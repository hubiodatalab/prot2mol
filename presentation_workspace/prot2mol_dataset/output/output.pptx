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658"/>
  </p:normalViewPr>
  <p:slideViewPr>
    <p:cSldViewPr snapToGrid="0">
      <p:cViewPr>
        <p:scale>
          <a:sx n="100" d="100"/>
          <a:sy n="100" d="100"/>
        </p:scale>
        <p:origin x="280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E4F2731F-0F43-4483-8403-F9F49EBD8D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4"/>
          </a:solidFill>
          <a:ln w="0">
            <a:solidFill>
              <a:srgbClr val="F7F8F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1AB541-4D1A-4A84-97FE-DE1145FF9153}"/>
              </a:ext>
            </a:extLst>
          </p:cNvPr>
          <p:cNvSpPr>
            <a:spLocks noGrp="1"/>
          </p:cNvSpPr>
          <p:nvPr/>
        </p:nvSpPr>
        <p:spPr>
          <a:xfrm>
            <a:off x="819150" y="628650"/>
            <a:ext cx="16649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WHERE THE DATA COMES FROM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B68DFA5-9D1F-412A-8B55-063E35331360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66497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02027"/>
                </a:solidFill>
              </a:defRPr>
            </a:pPr>
            <a:r>
              <a:rPr sz="4050" b="1">
                <a:solidFill>
                  <a:srgbClr val="102027"/>
                </a:solidFill>
              </a:rPr>
              <a:t>Two dataset families: Boltz-style reconstruction and Papyrus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1A9BFD4A-811F-47B5-A4F8-D4B5E5748B41}"/>
              </a:ext>
            </a:extLst>
          </p:cNvPr>
          <p:cNvSpPr>
            <a:spLocks noGrp="1"/>
          </p:cNvSpPr>
          <p:nvPr/>
        </p:nvSpPr>
        <p:spPr>
          <a:xfrm>
            <a:off x="819150" y="1504950"/>
            <a:ext cx="12915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627276"/>
                </a:solidFill>
              </a:defRPr>
            </a:pPr>
            <a:r>
              <a:rPr sz="1800" b="0">
                <a:solidFill>
                  <a:srgbClr val="627276"/>
                </a:solidFill>
              </a:rPr>
              <a:t>Boltz-style keeps assay/source provenance for each row; Papyrus gives a compact high-quality aggregated pChEMBL median table.</a:t>
            </a:r>
          </a:p>
        </p:txBody>
      </p:sp>
      <p:sp>
        <p:nvSpPr>
          <p:cNvPr id="5" name="boltz-source-table">
            <a:extLst>
              <a:ext uri="{FF2B5EF4-FFF2-40B4-BE49-F238E27FC236}">
                <a16:creationId xmlns:a16="http://schemas.microsoft.com/office/drawing/2014/main" id="{2C69FC95-0250-48A0-8DAA-C72276F01067}"/>
              </a:ext>
            </a:extLst>
          </p:cNvPr>
          <p:cNvSpPr>
            <a:spLocks noGrp="1"/>
          </p:cNvSpPr>
          <p:nvPr/>
        </p:nvSpPr>
        <p:spPr>
          <a:xfrm>
            <a:off x="819150" y="2219325"/>
            <a:ext cx="8134350" cy="6734175"/>
          </a:xfrm>
          <a:prstGeom prst="roundRect">
            <a:avLst>
              <a:gd name="adj" fmla="val 849"/>
            </a:avLst>
          </a:prstGeom>
          <a:solidFill>
            <a:srgbClr val="FFFFFF"/>
          </a:solidFill>
          <a:ln w="9525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3FC873-8722-4474-A4C3-A6C523BF6782}"/>
              </a:ext>
            </a:extLst>
          </p:cNvPr>
          <p:cNvSpPr>
            <a:spLocks noGrp="1"/>
          </p:cNvSpPr>
          <p:nvPr/>
        </p:nvSpPr>
        <p:spPr>
          <a:xfrm>
            <a:off x="1047750" y="2438400"/>
            <a:ext cx="1714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Boltz-style source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6D1412-BE38-4BF9-B858-930C5D1DAD3A}"/>
              </a:ext>
            </a:extLst>
          </p:cNvPr>
          <p:cNvSpPr>
            <a:spLocks noGrp="1"/>
          </p:cNvSpPr>
          <p:nvPr/>
        </p:nvSpPr>
        <p:spPr>
          <a:xfrm>
            <a:off x="2914650" y="2438400"/>
            <a:ext cx="12954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Rows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F6782A-6886-49C3-AC7C-B17B9CA7A151}"/>
              </a:ext>
            </a:extLst>
          </p:cNvPr>
          <p:cNvSpPr>
            <a:spLocks noGrp="1"/>
          </p:cNvSpPr>
          <p:nvPr/>
        </p:nvSpPr>
        <p:spPr>
          <a:xfrm>
            <a:off x="4362450" y="2438400"/>
            <a:ext cx="4953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Contribution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F91DA-9637-4322-A48D-DEF7BCEB0BE1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7677150" cy="9525"/>
          </a:xfrm>
          <a:prstGeom prst="rect">
            <a:avLst/>
          </a:prstGeom>
          <a:solidFill>
            <a:srgbClr val="DCE3DD"/>
          </a:solidFill>
          <a:ln w="0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8742D7-E577-474C-A5B3-3AB93B88D00D}"/>
              </a:ext>
            </a:extLst>
          </p:cNvPr>
          <p:cNvSpPr>
            <a:spLocks noGrp="1"/>
          </p:cNvSpPr>
          <p:nvPr/>
        </p:nvSpPr>
        <p:spPr>
          <a:xfrm>
            <a:off x="1047750" y="2838450"/>
            <a:ext cx="1714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02027"/>
                </a:solidFill>
              </a:defRPr>
            </a:pPr>
            <a:r>
              <a:rPr sz="1275" b="1">
                <a:solidFill>
                  <a:srgbClr val="102027"/>
                </a:solidFill>
              </a:rPr>
              <a:t>BindingDB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BDD3F9-A8E6-4D54-BA27-C6E9AFEE13AB}"/>
              </a:ext>
            </a:extLst>
          </p:cNvPr>
          <p:cNvSpPr>
            <a:spLocks noGrp="1"/>
          </p:cNvSpPr>
          <p:nvPr/>
        </p:nvSpPr>
        <p:spPr>
          <a:xfrm>
            <a:off x="2914650" y="2838450"/>
            <a:ext cx="1295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1,817,178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D6F531-7D68-4DDA-A4AF-691BA0B69179}"/>
              </a:ext>
            </a:extLst>
          </p:cNvPr>
          <p:cNvSpPr>
            <a:spLocks noGrp="1"/>
          </p:cNvSpPr>
          <p:nvPr/>
        </p:nvSpPr>
        <p:spPr>
          <a:xfrm>
            <a:off x="4362450" y="2838450"/>
            <a:ext cx="495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curated binding measurements; thresholded binary + ranking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CBA2B9-8902-4DE4-A8E5-724052E64589}"/>
              </a:ext>
            </a:extLst>
          </p:cNvPr>
          <p:cNvSpPr>
            <a:spLocks noGrp="1"/>
          </p:cNvSpPr>
          <p:nvPr/>
        </p:nvSpPr>
        <p:spPr>
          <a:xfrm>
            <a:off x="1047750" y="3124200"/>
            <a:ext cx="7677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0C8DAE-1535-4C65-BB93-EB2937610313}"/>
              </a:ext>
            </a:extLst>
          </p:cNvPr>
          <p:cNvSpPr>
            <a:spLocks noGrp="1"/>
          </p:cNvSpPr>
          <p:nvPr/>
        </p:nvSpPr>
        <p:spPr>
          <a:xfrm>
            <a:off x="1047750" y="3276600"/>
            <a:ext cx="1714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02027"/>
                </a:solidFill>
              </a:defRPr>
            </a:pPr>
            <a:r>
              <a:rPr sz="1275" b="1">
                <a:solidFill>
                  <a:srgbClr val="102027"/>
                </a:solidFill>
              </a:rPr>
              <a:t>PubChem HTS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1B929D-2062-4704-B93B-071047497971}"/>
              </a:ext>
            </a:extLst>
          </p:cNvPr>
          <p:cNvSpPr>
            <a:spLocks noGrp="1"/>
          </p:cNvSpPr>
          <p:nvPr/>
        </p:nvSpPr>
        <p:spPr>
          <a:xfrm>
            <a:off x="2914650" y="3276600"/>
            <a:ext cx="1295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1,375,954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B8EC5-5C1A-438E-99C3-939FA40310AF}"/>
              </a:ext>
            </a:extLst>
          </p:cNvPr>
          <p:cNvSpPr>
            <a:spLocks noGrp="1"/>
          </p:cNvSpPr>
          <p:nvPr/>
        </p:nvSpPr>
        <p:spPr>
          <a:xfrm>
            <a:off x="4362450" y="3276600"/>
            <a:ext cx="495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screen labels, mostly negative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F81187-74FF-406C-BF00-03A0A9D409F9}"/>
              </a:ext>
            </a:extLst>
          </p:cNvPr>
          <p:cNvSpPr>
            <a:spLocks noGrp="1"/>
          </p:cNvSpPr>
          <p:nvPr/>
        </p:nvSpPr>
        <p:spPr>
          <a:xfrm>
            <a:off x="1047750" y="3562350"/>
            <a:ext cx="7677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D3B0BD-50D8-4303-AFF3-80E1BC3B32B8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1714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02027"/>
                </a:solidFill>
              </a:defRPr>
            </a:pPr>
            <a:r>
              <a:rPr sz="1275" b="1">
                <a:solidFill>
                  <a:srgbClr val="102027"/>
                </a:solidFill>
              </a:rPr>
              <a:t>CeMM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CBE4CD-60F5-4D33-9E19-FABEFB73B254}"/>
              </a:ext>
            </a:extLst>
          </p:cNvPr>
          <p:cNvSpPr>
            <a:spLocks noGrp="1"/>
          </p:cNvSpPr>
          <p:nvPr/>
        </p:nvSpPr>
        <p:spPr>
          <a:xfrm>
            <a:off x="2914650" y="3714750"/>
            <a:ext cx="1295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1,336,960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7A8F7B-FE2E-4D2E-9BAC-3C68886194FD}"/>
              </a:ext>
            </a:extLst>
          </p:cNvPr>
          <p:cNvSpPr>
            <a:spLocks noGrp="1"/>
          </p:cNvSpPr>
          <p:nvPr/>
        </p:nvSpPr>
        <p:spPr>
          <a:xfrm>
            <a:off x="4362450" y="3714750"/>
            <a:ext cx="495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proteome-wide compound screen labels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9EE7A6-E2EE-4BDC-B5A5-D4C884290233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7677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01BF7B-EE86-44DB-82F6-47C4F8E00270}"/>
              </a:ext>
            </a:extLst>
          </p:cNvPr>
          <p:cNvSpPr>
            <a:spLocks noGrp="1"/>
          </p:cNvSpPr>
          <p:nvPr/>
        </p:nvSpPr>
        <p:spPr>
          <a:xfrm>
            <a:off x="1047750" y="4152900"/>
            <a:ext cx="1714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02027"/>
                </a:solidFill>
              </a:defRPr>
            </a:pPr>
            <a:r>
              <a:rPr sz="1275" b="1">
                <a:solidFill>
                  <a:srgbClr val="102027"/>
                </a:solidFill>
              </a:rPr>
              <a:t>ChEMBL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77312D-DC39-455C-ABC7-45A0E71B2782}"/>
              </a:ext>
            </a:extLst>
          </p:cNvPr>
          <p:cNvSpPr>
            <a:spLocks noGrp="1"/>
          </p:cNvSpPr>
          <p:nvPr/>
        </p:nvSpPr>
        <p:spPr>
          <a:xfrm>
            <a:off x="2914650" y="4152900"/>
            <a:ext cx="1295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1,042,315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758E97-D9A9-4399-B0E0-1F631019F139}"/>
              </a:ext>
            </a:extLst>
          </p:cNvPr>
          <p:cNvSpPr>
            <a:spLocks noGrp="1"/>
          </p:cNvSpPr>
          <p:nvPr/>
        </p:nvSpPr>
        <p:spPr>
          <a:xfrm>
            <a:off x="4362450" y="4152900"/>
            <a:ext cx="495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curated single-protein bioactivity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79B358-9761-4420-B338-94BD0FA94C3F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7677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7F6076-A291-4A21-8932-4F8F7E1C07CC}"/>
              </a:ext>
            </a:extLst>
          </p:cNvPr>
          <p:cNvSpPr>
            <a:spLocks noGrp="1"/>
          </p:cNvSpPr>
          <p:nvPr/>
        </p:nvSpPr>
        <p:spPr>
          <a:xfrm>
            <a:off x="1047750" y="4591050"/>
            <a:ext cx="1714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02027"/>
                </a:solidFill>
              </a:defRPr>
            </a:pPr>
            <a:r>
              <a:rPr sz="1275" b="1">
                <a:solidFill>
                  <a:srgbClr val="102027"/>
                </a:solidFill>
              </a:rPr>
              <a:t>MIDAS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02C501-85DD-4B80-9186-E0F9B4C5E266}"/>
              </a:ext>
            </a:extLst>
          </p:cNvPr>
          <p:cNvSpPr>
            <a:spLocks noGrp="1"/>
          </p:cNvSpPr>
          <p:nvPr/>
        </p:nvSpPr>
        <p:spPr>
          <a:xfrm>
            <a:off x="2914650" y="4591050"/>
            <a:ext cx="1295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9,311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5F1783-69E6-4C8B-8033-B5C4C81D0A7E}"/>
              </a:ext>
            </a:extLst>
          </p:cNvPr>
          <p:cNvSpPr>
            <a:spLocks noGrp="1"/>
          </p:cNvSpPr>
          <p:nvPr/>
        </p:nvSpPr>
        <p:spPr>
          <a:xfrm>
            <a:off x="4362450" y="4591050"/>
            <a:ext cx="495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target engagement labels</a:t>
            </a:r>
          </a:p>
        </p:txBody>
      </p:sp>
      <p:sp>
        <p:nvSpPr>
          <p:cNvPr id="29" name="papyrus-source-table">
            <a:extLst>
              <a:ext uri="{FF2B5EF4-FFF2-40B4-BE49-F238E27FC236}">
                <a16:creationId xmlns:a16="http://schemas.microsoft.com/office/drawing/2014/main" id="{452A95A1-3A35-4022-9A89-314479C55ED0}"/>
              </a:ext>
            </a:extLst>
          </p:cNvPr>
          <p:cNvSpPr>
            <a:spLocks noGrp="1"/>
          </p:cNvSpPr>
          <p:nvPr/>
        </p:nvSpPr>
        <p:spPr>
          <a:xfrm>
            <a:off x="9334500" y="2219325"/>
            <a:ext cx="8134350" cy="6734175"/>
          </a:xfrm>
          <a:prstGeom prst="roundRect">
            <a:avLst>
              <a:gd name="adj" fmla="val 849"/>
            </a:avLst>
          </a:prstGeom>
          <a:solidFill>
            <a:srgbClr val="FFFFFF"/>
          </a:solidFill>
          <a:ln w="9525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C630F2-E6DA-4722-95AB-89D6954C73FA}"/>
              </a:ext>
            </a:extLst>
          </p:cNvPr>
          <p:cNvSpPr>
            <a:spLocks noGrp="1"/>
          </p:cNvSpPr>
          <p:nvPr/>
        </p:nvSpPr>
        <p:spPr>
          <a:xfrm>
            <a:off x="9563100" y="2438400"/>
            <a:ext cx="1809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Papyrus raw source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B8F279-32B8-4987-9839-8F69470B18D9}"/>
              </a:ext>
            </a:extLst>
          </p:cNvPr>
          <p:cNvSpPr>
            <a:spLocks noGrp="1"/>
          </p:cNvSpPr>
          <p:nvPr/>
        </p:nvSpPr>
        <p:spPr>
          <a:xfrm>
            <a:off x="11525250" y="2438400"/>
            <a:ext cx="1238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Rows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29A474-6D8D-4020-8507-B90B69D57ECE}"/>
              </a:ext>
            </a:extLst>
          </p:cNvPr>
          <p:cNvSpPr>
            <a:spLocks noGrp="1"/>
          </p:cNvSpPr>
          <p:nvPr/>
        </p:nvSpPr>
        <p:spPr>
          <a:xfrm>
            <a:off x="12915900" y="2438400"/>
            <a:ext cx="4762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Contribution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1089FA-AA43-4423-BC80-A25D2B463990}"/>
              </a:ext>
            </a:extLst>
          </p:cNvPr>
          <p:cNvSpPr>
            <a:spLocks noGrp="1"/>
          </p:cNvSpPr>
          <p:nvPr/>
        </p:nvSpPr>
        <p:spPr>
          <a:xfrm>
            <a:off x="9563100" y="2686050"/>
            <a:ext cx="7677150" cy="9525"/>
          </a:xfrm>
          <a:prstGeom prst="rect">
            <a:avLst/>
          </a:prstGeom>
          <a:solidFill>
            <a:srgbClr val="DCE3DD"/>
          </a:solidFill>
          <a:ln w="0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685FB8-37CD-4D96-9608-D2BEA74406EA}"/>
              </a:ext>
            </a:extLst>
          </p:cNvPr>
          <p:cNvSpPr>
            <a:spLocks noGrp="1"/>
          </p:cNvSpPr>
          <p:nvPr/>
        </p:nvSpPr>
        <p:spPr>
          <a:xfrm>
            <a:off x="9563100" y="2838450"/>
            <a:ext cx="1809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02027"/>
                </a:solidFill>
              </a:defRPr>
            </a:pPr>
            <a:r>
              <a:rPr sz="1275" b="1">
                <a:solidFill>
                  <a:srgbClr val="102027"/>
                </a:solidFill>
              </a:rPr>
              <a:t>ChEMBL30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AC9194-ADA4-4AAC-97AC-99E9E3552F43}"/>
              </a:ext>
            </a:extLst>
          </p:cNvPr>
          <p:cNvSpPr>
            <a:spLocks noGrp="1"/>
          </p:cNvSpPr>
          <p:nvPr/>
        </p:nvSpPr>
        <p:spPr>
          <a:xfrm>
            <a:off x="11525250" y="2838450"/>
            <a:ext cx="1238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835,250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89FC99-0B86-423B-9A98-783A7DE029F4}"/>
              </a:ext>
            </a:extLst>
          </p:cNvPr>
          <p:cNvSpPr>
            <a:spLocks noGrp="1"/>
          </p:cNvSpPr>
          <p:nvPr/>
        </p:nvSpPr>
        <p:spPr>
          <a:xfrm>
            <a:off x="12915900" y="2838450"/>
            <a:ext cx="476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main curated bioactivity contribution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7EFB166-3604-4C37-B139-486ED26BF5FA}"/>
              </a:ext>
            </a:extLst>
          </p:cNvPr>
          <p:cNvSpPr>
            <a:spLocks noGrp="1"/>
          </p:cNvSpPr>
          <p:nvPr/>
        </p:nvSpPr>
        <p:spPr>
          <a:xfrm>
            <a:off x="9563100" y="3124200"/>
            <a:ext cx="7677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ABF4EF-D7C7-43D8-B30B-79B64147F6A4}"/>
              </a:ext>
            </a:extLst>
          </p:cNvPr>
          <p:cNvSpPr>
            <a:spLocks noGrp="1"/>
          </p:cNvSpPr>
          <p:nvPr/>
        </p:nvSpPr>
        <p:spPr>
          <a:xfrm>
            <a:off x="9563100" y="3276600"/>
            <a:ext cx="1809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02027"/>
                </a:solidFill>
              </a:defRPr>
            </a:pPr>
            <a:r>
              <a:rPr sz="1275" b="1">
                <a:solidFill>
                  <a:srgbClr val="102027"/>
                </a:solidFill>
              </a:rPr>
              <a:t>ExCAPE-DB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C7ABDC-2AA7-4AFE-A2BA-7188AA777A4C}"/>
              </a:ext>
            </a:extLst>
          </p:cNvPr>
          <p:cNvSpPr>
            <a:spLocks noGrp="1"/>
          </p:cNvSpPr>
          <p:nvPr/>
        </p:nvSpPr>
        <p:spPr>
          <a:xfrm>
            <a:off x="11525250" y="3276600"/>
            <a:ext cx="1238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212,506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CA8B99-6D9C-4117-9350-6706C84A9275}"/>
              </a:ext>
            </a:extLst>
          </p:cNvPr>
          <p:cNvSpPr>
            <a:spLocks noGrp="1"/>
          </p:cNvSpPr>
          <p:nvPr/>
        </p:nvSpPr>
        <p:spPr>
          <a:xfrm>
            <a:off x="12915900" y="3276600"/>
            <a:ext cx="476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large public bioactivity benchmark source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27AAE8-659E-4C51-9C9B-F0F98B6283E0}"/>
              </a:ext>
            </a:extLst>
          </p:cNvPr>
          <p:cNvSpPr>
            <a:spLocks noGrp="1"/>
          </p:cNvSpPr>
          <p:nvPr/>
        </p:nvSpPr>
        <p:spPr>
          <a:xfrm>
            <a:off x="9563100" y="3562350"/>
            <a:ext cx="7677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FCE8F7B-45D2-44C2-B4FE-B2147E71D764}"/>
              </a:ext>
            </a:extLst>
          </p:cNvPr>
          <p:cNvSpPr>
            <a:spLocks noGrp="1"/>
          </p:cNvSpPr>
          <p:nvPr/>
        </p:nvSpPr>
        <p:spPr>
          <a:xfrm>
            <a:off x="9563100" y="3714750"/>
            <a:ext cx="1809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02027"/>
                </a:solidFill>
              </a:defRPr>
            </a:pPr>
            <a:r>
              <a:rPr sz="1275" b="1">
                <a:solidFill>
                  <a:srgbClr val="102027"/>
                </a:solidFill>
              </a:rPr>
              <a:t>Merget2017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86CE2E-5BBD-4B52-BD3E-C59D57822D8E}"/>
              </a:ext>
            </a:extLst>
          </p:cNvPr>
          <p:cNvSpPr>
            <a:spLocks noGrp="1"/>
          </p:cNvSpPr>
          <p:nvPr/>
        </p:nvSpPr>
        <p:spPr>
          <a:xfrm>
            <a:off x="11525250" y="3714750"/>
            <a:ext cx="1238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72,526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355E67C-AFB6-487F-B146-1BB1A570F449}"/>
              </a:ext>
            </a:extLst>
          </p:cNvPr>
          <p:cNvSpPr>
            <a:spLocks noGrp="1"/>
          </p:cNvSpPr>
          <p:nvPr/>
        </p:nvSpPr>
        <p:spPr>
          <a:xfrm>
            <a:off x="12915900" y="3714750"/>
            <a:ext cx="476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chemogenomic target-compound data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E0C5198-B03C-4485-B3A6-1E6AAF6BEC5D}"/>
              </a:ext>
            </a:extLst>
          </p:cNvPr>
          <p:cNvSpPr>
            <a:spLocks noGrp="1"/>
          </p:cNvSpPr>
          <p:nvPr/>
        </p:nvSpPr>
        <p:spPr>
          <a:xfrm>
            <a:off x="9563100" y="4000500"/>
            <a:ext cx="7677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2585A8D-9B03-43B6-8603-E716F668C87A}"/>
              </a:ext>
            </a:extLst>
          </p:cNvPr>
          <p:cNvSpPr>
            <a:spLocks noGrp="1"/>
          </p:cNvSpPr>
          <p:nvPr/>
        </p:nvSpPr>
        <p:spPr>
          <a:xfrm>
            <a:off x="9563100" y="4152900"/>
            <a:ext cx="1809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02027"/>
                </a:solidFill>
              </a:defRPr>
            </a:pPr>
            <a:r>
              <a:rPr sz="1275" b="1">
                <a:solidFill>
                  <a:srgbClr val="102027"/>
                </a:solidFill>
              </a:rPr>
              <a:t>Christmann2016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2F95163-1655-494E-B656-2DD3A4E5C16F}"/>
              </a:ext>
            </a:extLst>
          </p:cNvPr>
          <p:cNvSpPr>
            <a:spLocks noGrp="1"/>
          </p:cNvSpPr>
          <p:nvPr/>
        </p:nvSpPr>
        <p:spPr>
          <a:xfrm>
            <a:off x="11525250" y="4152900"/>
            <a:ext cx="1238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69,407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D62126F-22E3-4685-8AED-A3E4E6BE5FB5}"/>
              </a:ext>
            </a:extLst>
          </p:cNvPr>
          <p:cNvSpPr>
            <a:spLocks noGrp="1"/>
          </p:cNvSpPr>
          <p:nvPr/>
        </p:nvSpPr>
        <p:spPr>
          <a:xfrm>
            <a:off x="12915900" y="4152900"/>
            <a:ext cx="476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chemogenomic target-compound data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2E6EDC-CEF0-48F9-A292-A663558A83E8}"/>
              </a:ext>
            </a:extLst>
          </p:cNvPr>
          <p:cNvSpPr>
            <a:spLocks noGrp="1"/>
          </p:cNvSpPr>
          <p:nvPr/>
        </p:nvSpPr>
        <p:spPr>
          <a:xfrm>
            <a:off x="9563100" y="4438650"/>
            <a:ext cx="7677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52F5F58-46B7-49EF-BEB5-FC57CC26A106}"/>
              </a:ext>
            </a:extLst>
          </p:cNvPr>
          <p:cNvSpPr>
            <a:spLocks noGrp="1"/>
          </p:cNvSpPr>
          <p:nvPr/>
        </p:nvSpPr>
        <p:spPr>
          <a:xfrm>
            <a:off x="9563100" y="4591050"/>
            <a:ext cx="1809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02027"/>
                </a:solidFill>
              </a:defRPr>
            </a:pPr>
            <a:r>
              <a:rPr sz="1275" b="1">
                <a:solidFill>
                  <a:srgbClr val="102027"/>
                </a:solidFill>
              </a:rPr>
              <a:t>Sharma2016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A2E445E-0A31-47ED-8C43-FD2A68F7A41F}"/>
              </a:ext>
            </a:extLst>
          </p:cNvPr>
          <p:cNvSpPr>
            <a:spLocks noGrp="1"/>
          </p:cNvSpPr>
          <p:nvPr/>
        </p:nvSpPr>
        <p:spPr>
          <a:xfrm>
            <a:off x="11525250" y="4591050"/>
            <a:ext cx="1238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46,035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0F73946-F3A4-4FFC-8110-1BCB704D5A9F}"/>
              </a:ext>
            </a:extLst>
          </p:cNvPr>
          <p:cNvSpPr>
            <a:spLocks noGrp="1"/>
          </p:cNvSpPr>
          <p:nvPr/>
        </p:nvSpPr>
        <p:spPr>
          <a:xfrm>
            <a:off x="12915900" y="4591050"/>
            <a:ext cx="476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kinase-focused activity matrix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4AD0F70-689F-4BF4-808B-FBA367CF764E}"/>
              </a:ext>
            </a:extLst>
          </p:cNvPr>
          <p:cNvSpPr>
            <a:spLocks noGrp="1"/>
          </p:cNvSpPr>
          <p:nvPr/>
        </p:nvSpPr>
        <p:spPr>
          <a:xfrm>
            <a:off x="9563100" y="4876800"/>
            <a:ext cx="7677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B13D06B-AC46-48BD-A16A-740CC20F66D8}"/>
              </a:ext>
            </a:extLst>
          </p:cNvPr>
          <p:cNvSpPr>
            <a:spLocks noGrp="1"/>
          </p:cNvSpPr>
          <p:nvPr/>
        </p:nvSpPr>
        <p:spPr>
          <a:xfrm>
            <a:off x="9563100" y="5029200"/>
            <a:ext cx="1809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02027"/>
                </a:solidFill>
              </a:defRPr>
            </a:pPr>
            <a:r>
              <a:rPr sz="1275" b="1">
                <a:solidFill>
                  <a:srgbClr val="102027"/>
                </a:solidFill>
              </a:rPr>
              <a:t>Klaeger2017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3D2972F-C961-4201-85C4-71ACF73499B0}"/>
              </a:ext>
            </a:extLst>
          </p:cNvPr>
          <p:cNvSpPr>
            <a:spLocks noGrp="1"/>
          </p:cNvSpPr>
          <p:nvPr/>
        </p:nvSpPr>
        <p:spPr>
          <a:xfrm>
            <a:off x="11525250" y="5029200"/>
            <a:ext cx="1238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3,111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F7EFD33-7F43-4FB6-BE07-02F6EEE9C1E1}"/>
              </a:ext>
            </a:extLst>
          </p:cNvPr>
          <p:cNvSpPr>
            <a:spLocks noGrp="1"/>
          </p:cNvSpPr>
          <p:nvPr/>
        </p:nvSpPr>
        <p:spPr>
          <a:xfrm>
            <a:off x="12915900" y="5029200"/>
            <a:ext cx="476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253B40"/>
                </a:solidFill>
              </a:defRPr>
            </a:pPr>
            <a:r>
              <a:rPr sz="1275" b="0">
                <a:solidFill>
                  <a:srgbClr val="253B40"/>
                </a:solidFill>
              </a:rPr>
              <a:t>kinase profiling contribution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8C40356-AAAB-42FA-B0B2-EDB402D808EE}"/>
              </a:ext>
            </a:extLst>
          </p:cNvPr>
          <p:cNvSpPr>
            <a:spLocks noGrp="1"/>
          </p:cNvSpPr>
          <p:nvPr/>
        </p:nvSpPr>
        <p:spPr>
          <a:xfrm>
            <a:off x="819150" y="9220200"/>
            <a:ext cx="3463766" cy="4381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FB182B-3FF7-4C60-BF40-00C82CCE3855}"/>
              </a:ext>
            </a:extLst>
          </p:cNvPr>
          <p:cNvSpPr>
            <a:spLocks noGrp="1"/>
          </p:cNvSpPr>
          <p:nvPr/>
        </p:nvSpPr>
        <p:spPr>
          <a:xfrm>
            <a:off x="952500" y="9296400"/>
            <a:ext cx="32004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Boltz-style: ChEMBL + BindingDB + screens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B6BF4833-60CA-47CA-8C8D-400233CB731E}"/>
              </a:ext>
            </a:extLst>
          </p:cNvPr>
          <p:cNvSpPr>
            <a:spLocks noGrp="1"/>
          </p:cNvSpPr>
          <p:nvPr/>
        </p:nvSpPr>
        <p:spPr>
          <a:xfrm>
            <a:off x="4378166" y="9220200"/>
            <a:ext cx="2874740" cy="438150"/>
          </a:xfrm>
          <a:prstGeom prst="roundRect">
            <a:avLst>
              <a:gd name="adj" fmla="val 50000"/>
            </a:avLst>
          </a:prstGeom>
          <a:solidFill>
            <a:srgbClr val="E8F3E8"/>
          </a:solidFill>
          <a:ln w="0">
            <a:solidFill>
              <a:srgbClr val="E8F3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6C29C60-8154-4716-AB36-F64036464DD1}"/>
              </a:ext>
            </a:extLst>
          </p:cNvPr>
          <p:cNvSpPr>
            <a:spLocks noGrp="1"/>
          </p:cNvSpPr>
          <p:nvPr/>
        </p:nvSpPr>
        <p:spPr>
          <a:xfrm>
            <a:off x="4514850" y="9296400"/>
            <a:ext cx="2609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803D"/>
                </a:solidFill>
              </a:defRPr>
            </a:pPr>
            <a:r>
              <a:rPr sz="1200" b="1">
                <a:solidFill>
                  <a:srgbClr val="15803D"/>
                </a:solidFill>
              </a:rPr>
              <a:t>Papyrus: all local rows Quality=High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E120515-D1E4-4124-A002-B2C680F254B2}"/>
              </a:ext>
            </a:extLst>
          </p:cNvPr>
          <p:cNvSpPr>
            <a:spLocks noGrp="1"/>
          </p:cNvSpPr>
          <p:nvPr/>
        </p:nvSpPr>
        <p:spPr>
          <a:xfrm>
            <a:off x="14249400" y="9372600"/>
            <a:ext cx="32194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627276"/>
                </a:solidFill>
              </a:defRPr>
            </a:pPr>
            <a:r>
              <a:rPr sz="1200" b="0">
                <a:solidFill>
                  <a:srgbClr val="627276"/>
                </a:solidFill>
              </a:rPr>
              <a:t>Source counts are from the prepared local files.</a:t>
            </a:r>
          </a:p>
        </p:txBody>
      </p:sp>
    </p:spTree>
    <p:extLst>
      <p:ext uri="{BB962C8B-B14F-4D97-AF65-F5344CB8AC3E}">
        <p14:creationId xmlns:p14="http://schemas.microsoft.com/office/powerpoint/2010/main" val="227205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3C6E042A-1422-4362-A659-267C898B5108}"/>
              </a:ext>
            </a:extLst>
          </p:cNvPr>
          <p:cNvSpPr>
            <a:spLocks noGrp="1"/>
          </p:cNvSpPr>
          <p:nvPr/>
        </p:nvSpPr>
        <p:spPr>
          <a:xfrm>
            <a:off x="0" y="12700"/>
            <a:ext cx="18288000" cy="10287000"/>
          </a:xfrm>
          <a:prstGeom prst="rect">
            <a:avLst/>
          </a:prstGeom>
          <a:solidFill>
            <a:srgbClr val="F7F8F4"/>
          </a:solidFill>
          <a:ln w="0">
            <a:solidFill>
              <a:srgbClr val="F7F8F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70C5A4-309A-4C71-94DA-5B1262D63F5D}"/>
              </a:ext>
            </a:extLst>
          </p:cNvPr>
          <p:cNvSpPr>
            <a:spLocks noGrp="1"/>
          </p:cNvSpPr>
          <p:nvPr/>
        </p:nvSpPr>
        <p:spPr>
          <a:xfrm>
            <a:off x="819150" y="628650"/>
            <a:ext cx="16649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WHAT EACH DATASET CONTAINS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032EDD0-CB60-4CF9-A876-D8FC8A32FFEA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66497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02027"/>
                </a:solidFill>
              </a:defRPr>
            </a:pPr>
            <a:r>
              <a:rPr sz="4050" b="1">
                <a:solidFill>
                  <a:srgbClr val="102027"/>
                </a:solidFill>
              </a:rPr>
              <a:t>The datasets answer different training questions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B5F974D7-8B67-4A95-A951-C9FAD8F70C25}"/>
              </a:ext>
            </a:extLst>
          </p:cNvPr>
          <p:cNvSpPr>
            <a:spLocks noGrp="1"/>
          </p:cNvSpPr>
          <p:nvPr/>
        </p:nvSpPr>
        <p:spPr>
          <a:xfrm>
            <a:off x="819150" y="1504950"/>
            <a:ext cx="126301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627276"/>
                </a:solidFill>
              </a:defRPr>
            </a:pPr>
            <a:r>
              <a:rPr sz="1800" b="0">
                <a:solidFill>
                  <a:srgbClr val="627276"/>
                </a:solidFill>
              </a:rPr>
              <a:t>Use the mixed Boltz-style dataset for binary hit prediction and assay-aware evaluation; use Papyrus as auxiliary high-quality pChEMBL median data.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229836-F829-409B-80A5-2B3106B1DFF5}"/>
              </a:ext>
            </a:extLst>
          </p:cNvPr>
          <p:cNvSpPr>
            <a:spLocks noGrp="1"/>
          </p:cNvSpPr>
          <p:nvPr/>
        </p:nvSpPr>
        <p:spPr>
          <a:xfrm>
            <a:off x="819150" y="2219325"/>
            <a:ext cx="8124825" cy="7439025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9525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E4FBA7-768C-4B8B-AA7B-807800AB15B9}"/>
              </a:ext>
            </a:extLst>
          </p:cNvPr>
          <p:cNvSpPr>
            <a:spLocks noGrp="1"/>
          </p:cNvSpPr>
          <p:nvPr/>
        </p:nvSpPr>
        <p:spPr>
          <a:xfrm>
            <a:off x="1085850" y="2495550"/>
            <a:ext cx="7600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2563EB"/>
                </a:solidFill>
              </a:defRPr>
            </a:pPr>
            <a:r>
              <a:rPr sz="2325" b="1">
                <a:solidFill>
                  <a:srgbClr val="2563EB"/>
                </a:solidFill>
              </a:rPr>
              <a:t>Boltz-style dataset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FB87E0-694F-4C32-AC76-CA08C29D71C8}"/>
              </a:ext>
            </a:extLst>
          </p:cNvPr>
          <p:cNvSpPr>
            <a:spLocks noGrp="1"/>
          </p:cNvSpPr>
          <p:nvPr/>
        </p:nvSpPr>
        <p:spPr>
          <a:xfrm>
            <a:off x="1085850" y="2990850"/>
            <a:ext cx="36766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2563EB"/>
                </a:solidFill>
              </a:defRPr>
            </a:pPr>
            <a:r>
              <a:rPr sz="3450" b="1" dirty="0">
                <a:solidFill>
                  <a:srgbClr val="2563EB"/>
                </a:solidFill>
              </a:rPr>
              <a:t>5.58M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E0102F-DC1C-4609-B3EF-27B4902DA359}"/>
              </a:ext>
            </a:extLst>
          </p:cNvPr>
          <p:cNvSpPr>
            <a:spLocks noGrp="1"/>
          </p:cNvSpPr>
          <p:nvPr/>
        </p:nvSpPr>
        <p:spPr>
          <a:xfrm>
            <a:off x="1085850" y="3486150"/>
            <a:ext cx="3676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binary rows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E1B868-8BA5-481A-88E1-4B839F98C552}"/>
              </a:ext>
            </a:extLst>
          </p:cNvPr>
          <p:cNvSpPr>
            <a:spLocks noGrp="1"/>
          </p:cNvSpPr>
          <p:nvPr/>
        </p:nvSpPr>
        <p:spPr>
          <a:xfrm>
            <a:off x="1085850" y="3714750"/>
            <a:ext cx="3676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627276"/>
                </a:solidFill>
              </a:defRPr>
            </a:pPr>
            <a:r>
              <a:rPr sz="1200" b="0">
                <a:solidFill>
                  <a:srgbClr val="627276"/>
                </a:solidFill>
              </a:rPr>
              <a:t>29.9% positive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85443-2DF4-4AC5-8B0B-4224529CA1F1}"/>
              </a:ext>
            </a:extLst>
          </p:cNvPr>
          <p:cNvSpPr>
            <a:spLocks noGrp="1"/>
          </p:cNvSpPr>
          <p:nvPr/>
        </p:nvSpPr>
        <p:spPr>
          <a:xfrm>
            <a:off x="4991100" y="2990850"/>
            <a:ext cx="36766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0F766E"/>
                </a:solidFill>
              </a:defRPr>
            </a:pPr>
            <a:r>
              <a:rPr sz="3450" b="1">
                <a:solidFill>
                  <a:srgbClr val="0F766E"/>
                </a:solidFill>
              </a:rPr>
              <a:t>3.72M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38A9F4-7D96-4ED6-9983-8D54C7629C3D}"/>
              </a:ext>
            </a:extLst>
          </p:cNvPr>
          <p:cNvSpPr>
            <a:spLocks noGrp="1"/>
          </p:cNvSpPr>
          <p:nvPr/>
        </p:nvSpPr>
        <p:spPr>
          <a:xfrm>
            <a:off x="4991100" y="3486150"/>
            <a:ext cx="3676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continuous affinity rows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8FACD5-17D9-42DA-AB33-0E2E758CDAF6}"/>
              </a:ext>
            </a:extLst>
          </p:cNvPr>
          <p:cNvSpPr>
            <a:spLocks noGrp="1"/>
          </p:cNvSpPr>
          <p:nvPr/>
        </p:nvSpPr>
        <p:spPr>
          <a:xfrm>
            <a:off x="4991100" y="3714750"/>
            <a:ext cx="3676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627276"/>
                </a:solidFill>
              </a:defRPr>
            </a:pPr>
            <a:r>
              <a:rPr sz="1200" b="0">
                <a:solidFill>
                  <a:srgbClr val="627276"/>
                </a:solidFill>
              </a:rPr>
              <a:t>ChEMBL + BindingDB</a:t>
            </a:r>
          </a:p>
        </p:txBody>
      </p:sp>
      <p:sp>
        <p:nvSpPr>
          <p:cNvPr id="13" name="boltz-contains">
            <a:extLst>
              <a:ext uri="{FF2B5EF4-FFF2-40B4-BE49-F238E27FC236}">
                <a16:creationId xmlns:a16="http://schemas.microsoft.com/office/drawing/2014/main" id="{9B4D4D4A-A057-4DFC-9D3E-5E234A77627F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7591425" cy="268605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FB183B-AED4-4AE6-97DA-CE200AD96D6C}"/>
              </a:ext>
            </a:extLst>
          </p:cNvPr>
          <p:cNvSpPr>
            <a:spLocks noGrp="1"/>
          </p:cNvSpPr>
          <p:nvPr/>
        </p:nvSpPr>
        <p:spPr>
          <a:xfrm>
            <a:off x="1257300" y="4229100"/>
            <a:ext cx="2000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F2D1AE-1896-4700-8683-7BFC4AA45C59}"/>
              </a:ext>
            </a:extLst>
          </p:cNvPr>
          <p:cNvSpPr>
            <a:spLocks noGrp="1"/>
          </p:cNvSpPr>
          <p:nvPr/>
        </p:nvSpPr>
        <p:spPr>
          <a:xfrm>
            <a:off x="3409950" y="4229100"/>
            <a:ext cx="5810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Contains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78750D-747D-43B3-887E-12A26D38BD18}"/>
              </a:ext>
            </a:extLst>
          </p:cNvPr>
          <p:cNvSpPr>
            <a:spLocks noGrp="1"/>
          </p:cNvSpPr>
          <p:nvPr/>
        </p:nvSpPr>
        <p:spPr>
          <a:xfrm>
            <a:off x="1257300" y="4495800"/>
            <a:ext cx="7258050" cy="9525"/>
          </a:xfrm>
          <a:prstGeom prst="rect">
            <a:avLst/>
          </a:prstGeom>
          <a:solidFill>
            <a:srgbClr val="DCE3DD"/>
          </a:solidFill>
          <a:ln w="0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D6FAD1-814A-4763-82E5-9D39DD36322F}"/>
              </a:ext>
            </a:extLst>
          </p:cNvPr>
          <p:cNvSpPr>
            <a:spLocks noGrp="1"/>
          </p:cNvSpPr>
          <p:nvPr/>
        </p:nvSpPr>
        <p:spPr>
          <a:xfrm>
            <a:off x="1257300" y="4629150"/>
            <a:ext cx="200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27"/>
                </a:solidFill>
              </a:defRPr>
            </a:pPr>
            <a:r>
              <a:rPr sz="1350" b="1">
                <a:solidFill>
                  <a:srgbClr val="102027"/>
                </a:solidFill>
              </a:rPr>
              <a:t>Binary all-source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78FE79-7E60-4ED3-B97D-3FD9F61A0507}"/>
              </a:ext>
            </a:extLst>
          </p:cNvPr>
          <p:cNvSpPr>
            <a:spLocks noGrp="1"/>
          </p:cNvSpPr>
          <p:nvPr/>
        </p:nvSpPr>
        <p:spPr>
          <a:xfrm>
            <a:off x="3409950" y="4629150"/>
            <a:ext cx="581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253B40"/>
                </a:solidFill>
              </a:defRPr>
            </a:pPr>
            <a:r>
              <a:rPr sz="1350" b="0" dirty="0" err="1">
                <a:solidFill>
                  <a:srgbClr val="253B40"/>
                </a:solidFill>
              </a:rPr>
              <a:t>BindingDB</a:t>
            </a:r>
            <a:r>
              <a:rPr sz="1350" b="0" dirty="0">
                <a:solidFill>
                  <a:srgbClr val="253B40"/>
                </a:solidFill>
              </a:rPr>
              <a:t>, </a:t>
            </a:r>
            <a:r>
              <a:rPr sz="1350" b="0" dirty="0" err="1">
                <a:solidFill>
                  <a:srgbClr val="253B40"/>
                </a:solidFill>
              </a:rPr>
              <a:t>ChEMBL</a:t>
            </a:r>
            <a:r>
              <a:rPr sz="1350" b="0" dirty="0">
                <a:solidFill>
                  <a:srgbClr val="253B40"/>
                </a:solidFill>
              </a:rPr>
              <a:t>, PubChem HTS, </a:t>
            </a:r>
            <a:r>
              <a:rPr sz="1350" b="0" dirty="0" err="1">
                <a:solidFill>
                  <a:srgbClr val="253B40"/>
                </a:solidFill>
              </a:rPr>
              <a:t>CeMM</a:t>
            </a:r>
            <a:r>
              <a:rPr sz="1350" b="0" dirty="0">
                <a:solidFill>
                  <a:srgbClr val="253B40"/>
                </a:solidFill>
              </a:rPr>
              <a:t>, MIDAS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1D9CFC-1EDD-4568-90E9-600CA566C218}"/>
              </a:ext>
            </a:extLst>
          </p:cNvPr>
          <p:cNvSpPr>
            <a:spLocks noGrp="1"/>
          </p:cNvSpPr>
          <p:nvPr/>
        </p:nvSpPr>
        <p:spPr>
          <a:xfrm>
            <a:off x="1257300" y="4933950"/>
            <a:ext cx="72580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1962FC-0E82-427A-B74E-A32DC8B3FE39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200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27"/>
                </a:solidFill>
              </a:defRPr>
            </a:pPr>
            <a:r>
              <a:rPr sz="1350" b="1">
                <a:solidFill>
                  <a:srgbClr val="102027"/>
                </a:solidFill>
              </a:rPr>
              <a:t>Screen-only binary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DB815C-F571-463B-972B-094E180D131C}"/>
              </a:ext>
            </a:extLst>
          </p:cNvPr>
          <p:cNvSpPr>
            <a:spLocks noGrp="1"/>
          </p:cNvSpPr>
          <p:nvPr/>
        </p:nvSpPr>
        <p:spPr>
          <a:xfrm>
            <a:off x="3409950" y="5086350"/>
            <a:ext cx="581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253B40"/>
                </a:solidFill>
              </a:defRPr>
            </a:pPr>
            <a:r>
              <a:rPr sz="1350" b="0">
                <a:solidFill>
                  <a:srgbClr val="253B40"/>
                </a:solidFill>
              </a:rPr>
              <a:t>PubChem HTS, CeMM, MIDAS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D341B8-8924-45FF-8DF8-C08837896F19}"/>
              </a:ext>
            </a:extLst>
          </p:cNvPr>
          <p:cNvSpPr>
            <a:spLocks noGrp="1"/>
          </p:cNvSpPr>
          <p:nvPr/>
        </p:nvSpPr>
        <p:spPr>
          <a:xfrm>
            <a:off x="1257300" y="5391150"/>
            <a:ext cx="72580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9D1C2A-82C9-4725-99A5-FBD0149C41D4}"/>
              </a:ext>
            </a:extLst>
          </p:cNvPr>
          <p:cNvSpPr>
            <a:spLocks noGrp="1"/>
          </p:cNvSpPr>
          <p:nvPr/>
        </p:nvSpPr>
        <p:spPr>
          <a:xfrm>
            <a:off x="1257300" y="5524500"/>
            <a:ext cx="200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27"/>
                </a:solidFill>
              </a:defRPr>
            </a:pPr>
            <a:r>
              <a:rPr sz="1350" b="1">
                <a:solidFill>
                  <a:srgbClr val="102027"/>
                </a:solidFill>
              </a:rPr>
              <a:t>Threshold binary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947662-4EDB-486A-9FC3-ACB5D510AB87}"/>
              </a:ext>
            </a:extLst>
          </p:cNvPr>
          <p:cNvSpPr>
            <a:spLocks noGrp="1"/>
          </p:cNvSpPr>
          <p:nvPr/>
        </p:nvSpPr>
        <p:spPr>
          <a:xfrm>
            <a:off x="3409950" y="5524500"/>
            <a:ext cx="581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253B40"/>
                </a:solidFill>
              </a:defRPr>
            </a:pPr>
            <a:r>
              <a:rPr sz="1350" b="0">
                <a:solidFill>
                  <a:srgbClr val="253B40"/>
                </a:solidFill>
              </a:rPr>
              <a:t>ChEMBL/BindingDB pChEMBL &gt;= 6.0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6AD4D8-9A22-43B5-8966-B8490B6067A2}"/>
              </a:ext>
            </a:extLst>
          </p:cNvPr>
          <p:cNvSpPr>
            <a:spLocks noGrp="1"/>
          </p:cNvSpPr>
          <p:nvPr/>
        </p:nvSpPr>
        <p:spPr>
          <a:xfrm>
            <a:off x="1257300" y="5829300"/>
            <a:ext cx="72580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9AAFCD-E46F-49EB-9129-1A4370249EC1}"/>
              </a:ext>
            </a:extLst>
          </p:cNvPr>
          <p:cNvSpPr>
            <a:spLocks noGrp="1"/>
          </p:cNvSpPr>
          <p:nvPr/>
        </p:nvSpPr>
        <p:spPr>
          <a:xfrm>
            <a:off x="1257300" y="5981700"/>
            <a:ext cx="200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27"/>
                </a:solidFill>
              </a:defRPr>
            </a:pPr>
            <a:r>
              <a:rPr sz="1350" b="1">
                <a:solidFill>
                  <a:srgbClr val="102027"/>
                </a:solidFill>
              </a:rPr>
              <a:t>Ranking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1A528D-214C-44E9-9C94-2DD29DCAF7F8}"/>
              </a:ext>
            </a:extLst>
          </p:cNvPr>
          <p:cNvSpPr>
            <a:spLocks noGrp="1"/>
          </p:cNvSpPr>
          <p:nvPr/>
        </p:nvSpPr>
        <p:spPr>
          <a:xfrm>
            <a:off x="3409950" y="5981700"/>
            <a:ext cx="581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253B40"/>
                </a:solidFill>
              </a:defRPr>
            </a:pPr>
            <a:r>
              <a:rPr sz="1350" b="0">
                <a:solidFill>
                  <a:srgbClr val="253B40"/>
                </a:solidFill>
              </a:rPr>
              <a:t>same-protein ligand pairs from continuous affinity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B72BE5-4F86-4CC4-BBBA-79257DA752A0}"/>
              </a:ext>
            </a:extLst>
          </p:cNvPr>
          <p:cNvSpPr>
            <a:spLocks noGrp="1"/>
          </p:cNvSpPr>
          <p:nvPr/>
        </p:nvSpPr>
        <p:spPr>
          <a:xfrm>
            <a:off x="1257300" y="6286500"/>
            <a:ext cx="72580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577326-D80B-40DB-9AC3-CBE18BD1C0FF}"/>
              </a:ext>
            </a:extLst>
          </p:cNvPr>
          <p:cNvSpPr>
            <a:spLocks noGrp="1"/>
          </p:cNvSpPr>
          <p:nvPr/>
        </p:nvSpPr>
        <p:spPr>
          <a:xfrm>
            <a:off x="1257300" y="6419850"/>
            <a:ext cx="200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27"/>
                </a:solidFill>
              </a:defRPr>
            </a:pPr>
            <a:r>
              <a:rPr sz="1350" b="1">
                <a:solidFill>
                  <a:srgbClr val="102027"/>
                </a:solidFill>
              </a:rPr>
              <a:t>Caveat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1AE598-4736-49BE-8CB3-576196183724}"/>
              </a:ext>
            </a:extLst>
          </p:cNvPr>
          <p:cNvSpPr>
            <a:spLocks noGrp="1"/>
          </p:cNvSpPr>
          <p:nvPr/>
        </p:nvSpPr>
        <p:spPr>
          <a:xfrm>
            <a:off x="3409950" y="6419850"/>
            <a:ext cx="581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253B40"/>
                </a:solidFill>
              </a:defRPr>
            </a:pPr>
            <a:r>
              <a:rPr sz="1350" b="0">
                <a:solidFill>
                  <a:srgbClr val="253B40"/>
                </a:solidFill>
              </a:rPr>
              <a:t>890,525 all-source rows have protein length &gt;1000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59BD7EA-6111-4AD2-B35C-E70C5320EB78}"/>
              </a:ext>
            </a:extLst>
          </p:cNvPr>
          <p:cNvSpPr>
            <a:spLocks noGrp="1"/>
          </p:cNvSpPr>
          <p:nvPr/>
        </p:nvSpPr>
        <p:spPr>
          <a:xfrm>
            <a:off x="9344025" y="2219325"/>
            <a:ext cx="8124825" cy="7439025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9525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71D40F-C6D5-4A46-BAC1-9E32A8B5C1FD}"/>
              </a:ext>
            </a:extLst>
          </p:cNvPr>
          <p:cNvSpPr>
            <a:spLocks noGrp="1"/>
          </p:cNvSpPr>
          <p:nvPr/>
        </p:nvSpPr>
        <p:spPr>
          <a:xfrm>
            <a:off x="9620250" y="2495550"/>
            <a:ext cx="7600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15803D"/>
                </a:solidFill>
              </a:defRPr>
            </a:pPr>
            <a:r>
              <a:rPr sz="2325" b="1">
                <a:solidFill>
                  <a:srgbClr val="15803D"/>
                </a:solidFill>
              </a:rPr>
              <a:t>Papyrus dataset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A5EB9B-9C68-48CE-8F33-6EB40D4154C2}"/>
              </a:ext>
            </a:extLst>
          </p:cNvPr>
          <p:cNvSpPr>
            <a:spLocks noGrp="1"/>
          </p:cNvSpPr>
          <p:nvPr/>
        </p:nvSpPr>
        <p:spPr>
          <a:xfrm>
            <a:off x="9620250" y="2990850"/>
            <a:ext cx="36766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15803D"/>
                </a:solidFill>
              </a:defRPr>
            </a:pPr>
            <a:r>
              <a:rPr sz="3450" b="1">
                <a:solidFill>
                  <a:srgbClr val="15803D"/>
                </a:solidFill>
              </a:rPr>
              <a:t>1.05M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5B3E64-3313-4212-8524-CCC6514D029A}"/>
              </a:ext>
            </a:extLst>
          </p:cNvPr>
          <p:cNvSpPr>
            <a:spLocks noGrp="1"/>
          </p:cNvSpPr>
          <p:nvPr/>
        </p:nvSpPr>
        <p:spPr>
          <a:xfrm>
            <a:off x="9620250" y="3486150"/>
            <a:ext cx="3676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rows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094BF1-D68C-43B6-956C-6D189F32209D}"/>
              </a:ext>
            </a:extLst>
          </p:cNvPr>
          <p:cNvSpPr>
            <a:spLocks noGrp="1"/>
          </p:cNvSpPr>
          <p:nvPr/>
        </p:nvSpPr>
        <p:spPr>
          <a:xfrm>
            <a:off x="9620250" y="3714750"/>
            <a:ext cx="3676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627276"/>
                </a:solidFill>
              </a:defRPr>
            </a:pPr>
            <a:r>
              <a:rPr sz="1200" b="0">
                <a:solidFill>
                  <a:srgbClr val="627276"/>
                </a:solidFill>
              </a:rPr>
              <a:t>39.8% positive at pChEMBL &gt;= 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4B3562-B7AD-4E23-A787-6C28DC5A199C}"/>
              </a:ext>
            </a:extLst>
          </p:cNvPr>
          <p:cNvSpPr>
            <a:spLocks noGrp="1"/>
          </p:cNvSpPr>
          <p:nvPr/>
        </p:nvSpPr>
        <p:spPr>
          <a:xfrm>
            <a:off x="13525500" y="2990850"/>
            <a:ext cx="36766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B7791F"/>
                </a:solidFill>
              </a:defRPr>
            </a:pPr>
            <a:r>
              <a:rPr sz="3450" b="1">
                <a:solidFill>
                  <a:srgbClr val="B7791F"/>
                </a:solidFill>
              </a:rPr>
              <a:t>999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12E573-65C0-44C4-8A34-5DD0B61A1DDE}"/>
              </a:ext>
            </a:extLst>
          </p:cNvPr>
          <p:cNvSpPr>
            <a:spLocks noGrp="1"/>
          </p:cNvSpPr>
          <p:nvPr/>
        </p:nvSpPr>
        <p:spPr>
          <a:xfrm>
            <a:off x="13525500" y="3486150"/>
            <a:ext cx="3676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protein length max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57B863-8EFA-44D4-9A8F-7B085444D767}"/>
              </a:ext>
            </a:extLst>
          </p:cNvPr>
          <p:cNvSpPr>
            <a:spLocks noGrp="1"/>
          </p:cNvSpPr>
          <p:nvPr/>
        </p:nvSpPr>
        <p:spPr>
          <a:xfrm>
            <a:off x="13525500" y="3714750"/>
            <a:ext cx="3676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627276"/>
                </a:solidFill>
              </a:defRPr>
            </a:pPr>
            <a:r>
              <a:rPr sz="1200" b="0">
                <a:solidFill>
                  <a:srgbClr val="627276"/>
                </a:solidFill>
              </a:rPr>
              <a:t>prepared with length &lt;1000</a:t>
            </a:r>
          </a:p>
        </p:txBody>
      </p:sp>
      <p:sp>
        <p:nvSpPr>
          <p:cNvPr id="39" name="papyrus-contains">
            <a:extLst>
              <a:ext uri="{FF2B5EF4-FFF2-40B4-BE49-F238E27FC236}">
                <a16:creationId xmlns:a16="http://schemas.microsoft.com/office/drawing/2014/main" id="{4004FA36-5915-45A2-8971-680581A5BDEA}"/>
              </a:ext>
            </a:extLst>
          </p:cNvPr>
          <p:cNvSpPr>
            <a:spLocks noGrp="1"/>
          </p:cNvSpPr>
          <p:nvPr/>
        </p:nvSpPr>
        <p:spPr>
          <a:xfrm>
            <a:off x="9610725" y="4076700"/>
            <a:ext cx="7591425" cy="268605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44FF9D-16C1-4B8D-97AB-F329E4220498}"/>
              </a:ext>
            </a:extLst>
          </p:cNvPr>
          <p:cNvSpPr>
            <a:spLocks noGrp="1"/>
          </p:cNvSpPr>
          <p:nvPr/>
        </p:nvSpPr>
        <p:spPr>
          <a:xfrm>
            <a:off x="9791700" y="4229100"/>
            <a:ext cx="2000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View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E51A5-728C-4697-AB8F-C5B6562182AC}"/>
              </a:ext>
            </a:extLst>
          </p:cNvPr>
          <p:cNvSpPr>
            <a:spLocks noGrp="1"/>
          </p:cNvSpPr>
          <p:nvPr/>
        </p:nvSpPr>
        <p:spPr>
          <a:xfrm>
            <a:off x="11944350" y="4229100"/>
            <a:ext cx="5810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Contains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FF4AC5-F585-4851-9011-E8BAD566A4BD}"/>
              </a:ext>
            </a:extLst>
          </p:cNvPr>
          <p:cNvSpPr>
            <a:spLocks noGrp="1"/>
          </p:cNvSpPr>
          <p:nvPr/>
        </p:nvSpPr>
        <p:spPr>
          <a:xfrm>
            <a:off x="9791700" y="4495800"/>
            <a:ext cx="7258050" cy="9525"/>
          </a:xfrm>
          <a:prstGeom prst="rect">
            <a:avLst/>
          </a:prstGeom>
          <a:solidFill>
            <a:srgbClr val="DCE3DD"/>
          </a:solidFill>
          <a:ln w="0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2688B1-6C69-4231-BC7D-2CB050653028}"/>
              </a:ext>
            </a:extLst>
          </p:cNvPr>
          <p:cNvSpPr>
            <a:spLocks noGrp="1"/>
          </p:cNvSpPr>
          <p:nvPr/>
        </p:nvSpPr>
        <p:spPr>
          <a:xfrm>
            <a:off x="9791700" y="4629150"/>
            <a:ext cx="200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27"/>
                </a:solidFill>
              </a:defRPr>
            </a:pPr>
            <a:r>
              <a:rPr sz="1350" b="1">
                <a:solidFill>
                  <a:srgbClr val="102027"/>
                </a:solidFill>
              </a:rPr>
              <a:t>Affinity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B4D01C0-2890-49A5-AF3A-8FD7C257259F}"/>
              </a:ext>
            </a:extLst>
          </p:cNvPr>
          <p:cNvSpPr>
            <a:spLocks noGrp="1"/>
          </p:cNvSpPr>
          <p:nvPr/>
        </p:nvSpPr>
        <p:spPr>
          <a:xfrm>
            <a:off x="11944350" y="4629150"/>
            <a:ext cx="581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253B40"/>
                </a:solidFill>
              </a:defRPr>
            </a:pPr>
            <a:r>
              <a:rPr sz="1350" b="0">
                <a:solidFill>
                  <a:srgbClr val="253B40"/>
                </a:solidFill>
              </a:rPr>
              <a:t>aggregated pChEMBL median per target-compound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B7980AB-72FC-422B-8031-0A711C1A950D}"/>
              </a:ext>
            </a:extLst>
          </p:cNvPr>
          <p:cNvSpPr>
            <a:spLocks noGrp="1"/>
          </p:cNvSpPr>
          <p:nvPr/>
        </p:nvSpPr>
        <p:spPr>
          <a:xfrm>
            <a:off x="9791700" y="4933950"/>
            <a:ext cx="72580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4CE3A67-4738-4289-BCD9-E8A47AF75D12}"/>
              </a:ext>
            </a:extLst>
          </p:cNvPr>
          <p:cNvSpPr>
            <a:spLocks noGrp="1"/>
          </p:cNvSpPr>
          <p:nvPr/>
        </p:nvSpPr>
        <p:spPr>
          <a:xfrm>
            <a:off x="9791700" y="5086350"/>
            <a:ext cx="200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27"/>
                </a:solidFill>
              </a:defRPr>
            </a:pPr>
            <a:r>
              <a:rPr sz="1350" b="1">
                <a:solidFill>
                  <a:srgbClr val="102027"/>
                </a:solidFill>
              </a:rPr>
              <a:t>Binary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8AF6F38-36F9-4A64-8332-9EEEFE6EBDFB}"/>
              </a:ext>
            </a:extLst>
          </p:cNvPr>
          <p:cNvSpPr>
            <a:spLocks noGrp="1"/>
          </p:cNvSpPr>
          <p:nvPr/>
        </p:nvSpPr>
        <p:spPr>
          <a:xfrm>
            <a:off x="11944350" y="5086350"/>
            <a:ext cx="581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253B40"/>
                </a:solidFill>
              </a:defRPr>
            </a:pPr>
            <a:r>
              <a:rPr sz="1350" b="0">
                <a:solidFill>
                  <a:srgbClr val="253B40"/>
                </a:solidFill>
              </a:rPr>
              <a:t>pChEMBL median &gt;= 6.0 threshold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CF5D69A-02C7-456B-85B0-1D4BFB9F91EA}"/>
              </a:ext>
            </a:extLst>
          </p:cNvPr>
          <p:cNvSpPr>
            <a:spLocks noGrp="1"/>
          </p:cNvSpPr>
          <p:nvPr/>
        </p:nvSpPr>
        <p:spPr>
          <a:xfrm>
            <a:off x="9791700" y="5391150"/>
            <a:ext cx="72580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AFA1BBE-644D-486C-BB36-61D0CC720E9C}"/>
              </a:ext>
            </a:extLst>
          </p:cNvPr>
          <p:cNvSpPr>
            <a:spLocks noGrp="1"/>
          </p:cNvSpPr>
          <p:nvPr/>
        </p:nvSpPr>
        <p:spPr>
          <a:xfrm>
            <a:off x="9791700" y="5524500"/>
            <a:ext cx="200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27"/>
                </a:solidFill>
              </a:defRPr>
            </a:pPr>
            <a:r>
              <a:rPr sz="1350" b="1">
                <a:solidFill>
                  <a:srgbClr val="102027"/>
                </a:solidFill>
              </a:rPr>
              <a:t>Ranking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9C819B-9F87-422B-9643-958B70BE49B1}"/>
              </a:ext>
            </a:extLst>
          </p:cNvPr>
          <p:cNvSpPr>
            <a:spLocks noGrp="1"/>
          </p:cNvSpPr>
          <p:nvPr/>
        </p:nvSpPr>
        <p:spPr>
          <a:xfrm>
            <a:off x="11944350" y="5524500"/>
            <a:ext cx="581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253B40"/>
                </a:solidFill>
              </a:defRPr>
            </a:pPr>
            <a:r>
              <a:rPr sz="1350" b="0">
                <a:solidFill>
                  <a:srgbClr val="253B40"/>
                </a:solidFill>
              </a:rPr>
              <a:t>same-protein ligand pairs from Papyrus medians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7D3C874-8085-4278-975C-266090F923A1}"/>
              </a:ext>
            </a:extLst>
          </p:cNvPr>
          <p:cNvSpPr>
            <a:spLocks noGrp="1"/>
          </p:cNvSpPr>
          <p:nvPr/>
        </p:nvSpPr>
        <p:spPr>
          <a:xfrm>
            <a:off x="9791700" y="5829300"/>
            <a:ext cx="72580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F076211-61F4-4273-B6EB-DF096C97C8D1}"/>
              </a:ext>
            </a:extLst>
          </p:cNvPr>
          <p:cNvSpPr>
            <a:spLocks noGrp="1"/>
          </p:cNvSpPr>
          <p:nvPr/>
        </p:nvSpPr>
        <p:spPr>
          <a:xfrm>
            <a:off x="9791700" y="5981700"/>
            <a:ext cx="200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27"/>
                </a:solidFill>
              </a:defRPr>
            </a:pPr>
            <a:r>
              <a:rPr sz="1350" b="1">
                <a:solidFill>
                  <a:srgbClr val="102027"/>
                </a:solidFill>
              </a:rPr>
              <a:t>Provenance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237DA1E-486A-4E90-8EBA-DCED1D6A20B7}"/>
              </a:ext>
            </a:extLst>
          </p:cNvPr>
          <p:cNvSpPr>
            <a:spLocks noGrp="1"/>
          </p:cNvSpPr>
          <p:nvPr/>
        </p:nvSpPr>
        <p:spPr>
          <a:xfrm>
            <a:off x="11944350" y="5981700"/>
            <a:ext cx="581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253B40"/>
                </a:solidFill>
              </a:defRPr>
            </a:pPr>
            <a:r>
              <a:rPr sz="1350" b="0">
                <a:solidFill>
                  <a:srgbClr val="253B40"/>
                </a:solidFill>
              </a:rPr>
              <a:t>original raw sources kept in summary, prepared rows tagged Papyrus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9303061-A2F2-4BE8-B635-FD5F03D33FF4}"/>
              </a:ext>
            </a:extLst>
          </p:cNvPr>
          <p:cNvSpPr>
            <a:spLocks noGrp="1"/>
          </p:cNvSpPr>
          <p:nvPr/>
        </p:nvSpPr>
        <p:spPr>
          <a:xfrm>
            <a:off x="9791700" y="6286500"/>
            <a:ext cx="72580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EC17C0-B1A3-4C4B-9F53-8416806ED133}"/>
              </a:ext>
            </a:extLst>
          </p:cNvPr>
          <p:cNvSpPr>
            <a:spLocks noGrp="1"/>
          </p:cNvSpPr>
          <p:nvPr/>
        </p:nvSpPr>
        <p:spPr>
          <a:xfrm>
            <a:off x="9791700" y="6419850"/>
            <a:ext cx="200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27"/>
                </a:solidFill>
              </a:defRPr>
            </a:pPr>
            <a:r>
              <a:rPr sz="1350" b="1">
                <a:solidFill>
                  <a:srgbClr val="102027"/>
                </a:solidFill>
              </a:rPr>
              <a:t>Caveat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78F66F8-E340-4D3D-AAD2-7475A8B9B60F}"/>
              </a:ext>
            </a:extLst>
          </p:cNvPr>
          <p:cNvSpPr>
            <a:spLocks noGrp="1"/>
          </p:cNvSpPr>
          <p:nvPr/>
        </p:nvSpPr>
        <p:spPr>
          <a:xfrm>
            <a:off x="11944350" y="6419850"/>
            <a:ext cx="5810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253B40"/>
                </a:solidFill>
              </a:defRPr>
            </a:pPr>
            <a:r>
              <a:rPr sz="1350" b="0">
                <a:solidFill>
                  <a:srgbClr val="253B40"/>
                </a:solidFill>
              </a:rPr>
              <a:t>less assay-level detail than ChEMBL/BindingDB export</a:t>
            </a:r>
          </a:p>
        </p:txBody>
      </p:sp>
    </p:spTree>
    <p:extLst>
      <p:ext uri="{BB962C8B-B14F-4D97-AF65-F5344CB8AC3E}">
        <p14:creationId xmlns:p14="http://schemas.microsoft.com/office/powerpoint/2010/main" val="1516273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9FBA693F-F3E0-4DAA-886F-1D64A0E386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4"/>
          </a:solidFill>
          <a:ln w="0">
            <a:solidFill>
              <a:srgbClr val="F7F8F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060B84-6931-489E-9B9C-B59C96576CA0}"/>
              </a:ext>
            </a:extLst>
          </p:cNvPr>
          <p:cNvSpPr>
            <a:spLocks noGrp="1"/>
          </p:cNvSpPr>
          <p:nvPr/>
        </p:nvSpPr>
        <p:spPr>
          <a:xfrm>
            <a:off x="819150" y="628650"/>
            <a:ext cx="16649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STATISTICS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6E834FAA-AE10-41E4-8585-513106C9F789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66497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02027"/>
                </a:solidFill>
              </a:defRPr>
            </a:pPr>
            <a:r>
              <a:rPr sz="4050" b="1">
                <a:solidFill>
                  <a:srgbClr val="102027"/>
                </a:solidFill>
              </a:rPr>
              <a:t>Boltz-style is broader; Papyrus is cleaner and smaller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9A9A0665-B502-42C9-9048-BDE0488F9766}"/>
              </a:ext>
            </a:extLst>
          </p:cNvPr>
          <p:cNvSpPr>
            <a:spLocks noGrp="1"/>
          </p:cNvSpPr>
          <p:nvPr/>
        </p:nvSpPr>
        <p:spPr>
          <a:xfrm>
            <a:off x="819150" y="1504950"/>
            <a:ext cx="13087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627276"/>
                </a:solidFill>
              </a:defRPr>
            </a:pPr>
            <a:r>
              <a:rPr sz="1800" b="0">
                <a:solidFill>
                  <a:srgbClr val="627276"/>
                </a:solidFill>
              </a:rPr>
              <a:t>The main tradeoff is coverage versus aggregation: Boltz-style keeps screen negatives and assay metadata, while Papyrus keeps high-quality median pChEMBL rows.</a:t>
            </a:r>
          </a:p>
        </p:txBody>
      </p:sp>
      <p:sp>
        <p:nvSpPr>
          <p:cNvPr id="5" name="stats-table">
            <a:extLst>
              <a:ext uri="{FF2B5EF4-FFF2-40B4-BE49-F238E27FC236}">
                <a16:creationId xmlns:a16="http://schemas.microsoft.com/office/drawing/2014/main" id="{9BE767A4-CCD8-4BD4-AC6E-E4AC73ED7C5B}"/>
              </a:ext>
            </a:extLst>
          </p:cNvPr>
          <p:cNvSpPr>
            <a:spLocks noGrp="1"/>
          </p:cNvSpPr>
          <p:nvPr/>
        </p:nvSpPr>
        <p:spPr>
          <a:xfrm>
            <a:off x="819150" y="2219325"/>
            <a:ext cx="8521065" cy="7439025"/>
          </a:xfrm>
          <a:prstGeom prst="roundRect">
            <a:avLst>
              <a:gd name="adj" fmla="val 768"/>
            </a:avLst>
          </a:prstGeom>
          <a:solidFill>
            <a:srgbClr val="FFFFFF"/>
          </a:solidFill>
          <a:ln w="9525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58932-54ED-4DDB-A9AE-BA4260C0C37D}"/>
              </a:ext>
            </a:extLst>
          </p:cNvPr>
          <p:cNvSpPr>
            <a:spLocks noGrp="1"/>
          </p:cNvSpPr>
          <p:nvPr/>
        </p:nvSpPr>
        <p:spPr>
          <a:xfrm>
            <a:off x="1047750" y="2438400"/>
            <a:ext cx="2667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Metric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EE049B-45E0-471E-8968-F9AB7AF2D60F}"/>
              </a:ext>
            </a:extLst>
          </p:cNvPr>
          <p:cNvSpPr>
            <a:spLocks noGrp="1"/>
          </p:cNvSpPr>
          <p:nvPr/>
        </p:nvSpPr>
        <p:spPr>
          <a:xfrm>
            <a:off x="3867150" y="2438400"/>
            <a:ext cx="2381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Boltz-style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1A38DE-F51F-4E7A-8833-37440FB11D0E}"/>
              </a:ext>
            </a:extLst>
          </p:cNvPr>
          <p:cNvSpPr>
            <a:spLocks noGrp="1"/>
          </p:cNvSpPr>
          <p:nvPr/>
        </p:nvSpPr>
        <p:spPr>
          <a:xfrm>
            <a:off x="6400800" y="2438400"/>
            <a:ext cx="2381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Papyrus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1AB10D-0EE1-45B7-BA59-8E2239716BA7}"/>
              </a:ext>
            </a:extLst>
          </p:cNvPr>
          <p:cNvSpPr>
            <a:spLocks noGrp="1"/>
          </p:cNvSpPr>
          <p:nvPr/>
        </p:nvSpPr>
        <p:spPr>
          <a:xfrm>
            <a:off x="1047750" y="2705100"/>
            <a:ext cx="8058150" cy="9525"/>
          </a:xfrm>
          <a:prstGeom prst="rect">
            <a:avLst/>
          </a:prstGeom>
          <a:solidFill>
            <a:srgbClr val="DCE3DD"/>
          </a:solidFill>
          <a:ln w="0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8A4908-05C6-4A98-BFE3-E084BA760D4A}"/>
              </a:ext>
            </a:extLst>
          </p:cNvPr>
          <p:cNvSpPr>
            <a:spLocks noGrp="1"/>
          </p:cNvSpPr>
          <p:nvPr/>
        </p:nvSpPr>
        <p:spPr>
          <a:xfrm>
            <a:off x="1047750" y="283845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binary rows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AF5A98-6C19-44DC-8D19-F3E68BED9914}"/>
              </a:ext>
            </a:extLst>
          </p:cNvPr>
          <p:cNvSpPr>
            <a:spLocks noGrp="1"/>
          </p:cNvSpPr>
          <p:nvPr/>
        </p:nvSpPr>
        <p:spPr>
          <a:xfrm>
            <a:off x="3867150" y="283845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 dirty="0">
                <a:solidFill>
                  <a:srgbClr val="253B40"/>
                </a:solidFill>
              </a:rPr>
              <a:t>5,581,718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220174-518D-40B4-9C38-7120ACD64117}"/>
              </a:ext>
            </a:extLst>
          </p:cNvPr>
          <p:cNvSpPr>
            <a:spLocks noGrp="1"/>
          </p:cNvSpPr>
          <p:nvPr/>
        </p:nvSpPr>
        <p:spPr>
          <a:xfrm>
            <a:off x="6400800" y="283845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1,053,052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9BAEE9-97D8-403F-B4D9-261DA142CDF8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8058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D3ECC4-A1C3-4A66-949C-129D1A643049}"/>
              </a:ext>
            </a:extLst>
          </p:cNvPr>
          <p:cNvSpPr>
            <a:spLocks noGrp="1"/>
          </p:cNvSpPr>
          <p:nvPr/>
        </p:nvSpPr>
        <p:spPr>
          <a:xfrm>
            <a:off x="1047750" y="33147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positive rows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060599-D691-455B-9A23-A04A09089B58}"/>
              </a:ext>
            </a:extLst>
          </p:cNvPr>
          <p:cNvSpPr>
            <a:spLocks noGrp="1"/>
          </p:cNvSpPr>
          <p:nvPr/>
        </p:nvSpPr>
        <p:spPr>
          <a:xfrm>
            <a:off x="3867150" y="331470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 dirty="0">
                <a:solidFill>
                  <a:srgbClr val="253B40"/>
                </a:solidFill>
              </a:rPr>
              <a:t>1,667,556 (29.9%)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65981C-7409-4265-982D-5E6D4E5EF4A4}"/>
              </a:ext>
            </a:extLst>
          </p:cNvPr>
          <p:cNvSpPr>
            <a:spLocks noGrp="1"/>
          </p:cNvSpPr>
          <p:nvPr/>
        </p:nvSpPr>
        <p:spPr>
          <a:xfrm>
            <a:off x="6400800" y="331470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419,341 (39.8%)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A2E333-6DC3-4917-9F34-DFE69CE8D8CE}"/>
              </a:ext>
            </a:extLst>
          </p:cNvPr>
          <p:cNvSpPr>
            <a:spLocks noGrp="1"/>
          </p:cNvSpPr>
          <p:nvPr/>
        </p:nvSpPr>
        <p:spPr>
          <a:xfrm>
            <a:off x="1047750" y="3638550"/>
            <a:ext cx="8058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CD20E-925D-42A2-AAFE-C81DE988D18D}"/>
              </a:ext>
            </a:extLst>
          </p:cNvPr>
          <p:cNvSpPr>
            <a:spLocks noGrp="1"/>
          </p:cNvSpPr>
          <p:nvPr/>
        </p:nvSpPr>
        <p:spPr>
          <a:xfrm>
            <a:off x="1047750" y="37719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negative rows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E3DF93-5902-4565-A96E-3FD5F5857039}"/>
              </a:ext>
            </a:extLst>
          </p:cNvPr>
          <p:cNvSpPr>
            <a:spLocks noGrp="1"/>
          </p:cNvSpPr>
          <p:nvPr/>
        </p:nvSpPr>
        <p:spPr>
          <a:xfrm>
            <a:off x="3867150" y="377190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3,914,162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10BF03-8BF2-4727-8357-9EDC31E8A3ED}"/>
              </a:ext>
            </a:extLst>
          </p:cNvPr>
          <p:cNvSpPr>
            <a:spLocks noGrp="1"/>
          </p:cNvSpPr>
          <p:nvPr/>
        </p:nvSpPr>
        <p:spPr>
          <a:xfrm>
            <a:off x="6400800" y="377190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633,711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4F4B63-FF3E-447D-9E80-C35602CB57EE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8058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C89037-120E-42C3-A51B-B3E7D213D01B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continuous affinity rows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9F492E-167A-4A07-8890-077991CDD63E}"/>
              </a:ext>
            </a:extLst>
          </p:cNvPr>
          <p:cNvSpPr>
            <a:spLocks noGrp="1"/>
          </p:cNvSpPr>
          <p:nvPr/>
        </p:nvSpPr>
        <p:spPr>
          <a:xfrm>
            <a:off x="3867150" y="424815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3,720,045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4B366F-9A42-4814-AD5C-9F81D78DB6D1}"/>
              </a:ext>
            </a:extLst>
          </p:cNvPr>
          <p:cNvSpPr>
            <a:spLocks noGrp="1"/>
          </p:cNvSpPr>
          <p:nvPr/>
        </p:nvSpPr>
        <p:spPr>
          <a:xfrm>
            <a:off x="6400800" y="424815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1,053,052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BD1E5A-DCEB-426B-BDD9-DD9A63EF0B92}"/>
              </a:ext>
            </a:extLst>
          </p:cNvPr>
          <p:cNvSpPr>
            <a:spLocks noGrp="1"/>
          </p:cNvSpPr>
          <p:nvPr/>
        </p:nvSpPr>
        <p:spPr>
          <a:xfrm>
            <a:off x="1047750" y="4572000"/>
            <a:ext cx="8058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1F847A-5802-4BF8-B4DC-5B60030404A2}"/>
              </a:ext>
            </a:extLst>
          </p:cNvPr>
          <p:cNvSpPr>
            <a:spLocks noGrp="1"/>
          </p:cNvSpPr>
          <p:nvPr/>
        </p:nvSpPr>
        <p:spPr>
          <a:xfrm>
            <a:off x="1047750" y="470535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protein sequences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E93D84-0F9A-4C8D-8D2E-0F8CE08372C9}"/>
              </a:ext>
            </a:extLst>
          </p:cNvPr>
          <p:cNvSpPr>
            <a:spLocks noGrp="1"/>
          </p:cNvSpPr>
          <p:nvPr/>
        </p:nvSpPr>
        <p:spPr>
          <a:xfrm>
            <a:off x="3867150" y="470535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 dirty="0">
                <a:solidFill>
                  <a:srgbClr val="253B40"/>
                </a:solidFill>
              </a:rPr>
              <a:t>13,843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E2102E-5D70-4A2D-8921-49DD979B5BA8}"/>
              </a:ext>
            </a:extLst>
          </p:cNvPr>
          <p:cNvSpPr>
            <a:spLocks noGrp="1"/>
          </p:cNvSpPr>
          <p:nvPr/>
        </p:nvSpPr>
        <p:spPr>
          <a:xfrm>
            <a:off x="6400800" y="470535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4,259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89DD0F-9AA7-4F6A-A884-C9AE28201F21}"/>
              </a:ext>
            </a:extLst>
          </p:cNvPr>
          <p:cNvSpPr>
            <a:spLocks noGrp="1"/>
          </p:cNvSpPr>
          <p:nvPr/>
        </p:nvSpPr>
        <p:spPr>
          <a:xfrm>
            <a:off x="1047750" y="5029200"/>
            <a:ext cx="8058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1E6AA7-E0E9-474B-829B-AA38838FF81D}"/>
              </a:ext>
            </a:extLst>
          </p:cNvPr>
          <p:cNvSpPr>
            <a:spLocks noGrp="1"/>
          </p:cNvSpPr>
          <p:nvPr/>
        </p:nvSpPr>
        <p:spPr>
          <a:xfrm>
            <a:off x="1047750" y="51816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unique SMILES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4A63D7-6F6E-4516-BB39-58D4C3E7391C}"/>
              </a:ext>
            </a:extLst>
          </p:cNvPr>
          <p:cNvSpPr>
            <a:spLocks noGrp="1"/>
          </p:cNvSpPr>
          <p:nvPr/>
        </p:nvSpPr>
        <p:spPr>
          <a:xfrm>
            <a:off x="3867150" y="518160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 dirty="0">
                <a:solidFill>
                  <a:srgbClr val="253B40"/>
                </a:solidFill>
              </a:rPr>
              <a:t>2,009,556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487B52-FF7B-427F-AD12-7AE87E9049DA}"/>
              </a:ext>
            </a:extLst>
          </p:cNvPr>
          <p:cNvSpPr>
            <a:spLocks noGrp="1"/>
          </p:cNvSpPr>
          <p:nvPr/>
        </p:nvSpPr>
        <p:spPr>
          <a:xfrm>
            <a:off x="6400800" y="518160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581,696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4AC25A-04D5-4E05-8702-E6203A995ACA}"/>
              </a:ext>
            </a:extLst>
          </p:cNvPr>
          <p:cNvSpPr>
            <a:spLocks noGrp="1"/>
          </p:cNvSpPr>
          <p:nvPr/>
        </p:nvSpPr>
        <p:spPr>
          <a:xfrm>
            <a:off x="1047750" y="5505450"/>
            <a:ext cx="8058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1B1222-EADA-45D5-A55A-13B2D3542898}"/>
              </a:ext>
            </a:extLst>
          </p:cNvPr>
          <p:cNvSpPr>
            <a:spLocks noGrp="1"/>
          </p:cNvSpPr>
          <p:nvPr/>
        </p:nvSpPr>
        <p:spPr>
          <a:xfrm>
            <a:off x="1047750" y="56388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ranking pairs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238F2D-2E7F-408F-8D74-767280C1A2D7}"/>
              </a:ext>
            </a:extLst>
          </p:cNvPr>
          <p:cNvSpPr>
            <a:spLocks noGrp="1"/>
          </p:cNvSpPr>
          <p:nvPr/>
        </p:nvSpPr>
        <p:spPr>
          <a:xfrm>
            <a:off x="3867150" y="563880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4M / 500k / 500k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A3D29E-95CB-4403-A753-6956459659F8}"/>
              </a:ext>
            </a:extLst>
          </p:cNvPr>
          <p:cNvSpPr>
            <a:spLocks noGrp="1"/>
          </p:cNvSpPr>
          <p:nvPr/>
        </p:nvSpPr>
        <p:spPr>
          <a:xfrm>
            <a:off x="6400800" y="563880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4M / 500k / 500k</a:t>
            </a:r>
          </a:p>
        </p:txBody>
      </p:sp>
    </p:spTree>
    <p:extLst>
      <p:ext uri="{BB962C8B-B14F-4D97-AF65-F5344CB8AC3E}">
        <p14:creationId xmlns:p14="http://schemas.microsoft.com/office/powerpoint/2010/main" val="1558383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F29E986C-BB77-4523-AEAA-604D6E00AC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4"/>
          </a:solidFill>
          <a:ln w="0">
            <a:solidFill>
              <a:srgbClr val="F7F8F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010874-6D2D-4A88-95C2-78AA0B00AF69}"/>
              </a:ext>
            </a:extLst>
          </p:cNvPr>
          <p:cNvSpPr>
            <a:spLocks noGrp="1"/>
          </p:cNvSpPr>
          <p:nvPr/>
        </p:nvSpPr>
        <p:spPr>
          <a:xfrm>
            <a:off x="819150" y="628650"/>
            <a:ext cx="16649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CLUSTERING AND SPLIT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D214DCDF-9929-4C93-BF03-5A617114A036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66497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02027"/>
                </a:solidFill>
              </a:defRPr>
            </a:pPr>
            <a:r>
              <a:rPr sz="4050" b="1" dirty="0">
                <a:solidFill>
                  <a:srgbClr val="102027"/>
                </a:solidFill>
              </a:rPr>
              <a:t>Both datasets use 90% </a:t>
            </a:r>
            <a:r>
              <a:rPr sz="4050" b="1" dirty="0" err="1">
                <a:solidFill>
                  <a:srgbClr val="102027"/>
                </a:solidFill>
              </a:rPr>
              <a:t>MMseqs</a:t>
            </a:r>
            <a:r>
              <a:rPr sz="4050" b="1" dirty="0">
                <a:solidFill>
                  <a:srgbClr val="102027"/>
                </a:solidFill>
              </a:rPr>
              <a:t> protein-cluster splits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F29C7B85-9D25-4A44-AD1A-4BEC08A55BAA}"/>
              </a:ext>
            </a:extLst>
          </p:cNvPr>
          <p:cNvSpPr>
            <a:spLocks noGrp="1"/>
          </p:cNvSpPr>
          <p:nvPr/>
        </p:nvSpPr>
        <p:spPr>
          <a:xfrm>
            <a:off x="819150" y="1504950"/>
            <a:ext cx="125920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627276"/>
                </a:solidFill>
              </a:defRPr>
            </a:pPr>
            <a:r>
              <a:rPr sz="1800" b="0">
                <a:solidFill>
                  <a:srgbClr val="627276"/>
                </a:solidFill>
              </a:rPr>
              <a:t>Ranking pairs are generated after split assignment, deduped by protein+winner+loser key, and verified for zero train/val/test overlap.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097405-86FA-4F02-AC36-35105734C77D}"/>
              </a:ext>
            </a:extLst>
          </p:cNvPr>
          <p:cNvSpPr>
            <a:spLocks noGrp="1"/>
          </p:cNvSpPr>
          <p:nvPr/>
        </p:nvSpPr>
        <p:spPr>
          <a:xfrm>
            <a:off x="819150" y="2219325"/>
            <a:ext cx="8124825" cy="7439025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9525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BC544-DFC9-413A-BA98-40414AA647B7}"/>
              </a:ext>
            </a:extLst>
          </p:cNvPr>
          <p:cNvSpPr>
            <a:spLocks noGrp="1"/>
          </p:cNvSpPr>
          <p:nvPr/>
        </p:nvSpPr>
        <p:spPr>
          <a:xfrm>
            <a:off x="1066800" y="2476500"/>
            <a:ext cx="7639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Boltz-style split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01784F-0875-4BDB-841A-C4DED55FB4C0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37147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2563EB"/>
                </a:solidFill>
              </a:defRPr>
            </a:pPr>
            <a:r>
              <a:rPr sz="3450" b="1">
                <a:solidFill>
                  <a:srgbClr val="2563EB"/>
                </a:solidFill>
              </a:rPr>
              <a:t>10,718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0C1A6E-366C-48E0-B8A2-F5217F85C94D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3714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clusters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E8C7D4-A325-4509-AD3B-62BB3E716D19}"/>
              </a:ext>
            </a:extLst>
          </p:cNvPr>
          <p:cNvSpPr>
            <a:spLocks noGrp="1"/>
          </p:cNvSpPr>
          <p:nvPr/>
        </p:nvSpPr>
        <p:spPr>
          <a:xfrm>
            <a:off x="1066800" y="3676650"/>
            <a:ext cx="3714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627276"/>
                </a:solidFill>
              </a:defRPr>
            </a:pPr>
            <a:r>
              <a:rPr sz="1200" b="0">
                <a:solidFill>
                  <a:srgbClr val="627276"/>
                </a:solidFill>
              </a:rPr>
              <a:t>90% sequence identity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F8C347-AE38-4FBD-B8B6-B589BB8A297F}"/>
              </a:ext>
            </a:extLst>
          </p:cNvPr>
          <p:cNvSpPr>
            <a:spLocks noGrp="1"/>
          </p:cNvSpPr>
          <p:nvPr/>
        </p:nvSpPr>
        <p:spPr>
          <a:xfrm>
            <a:off x="4991100" y="2952750"/>
            <a:ext cx="37147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15803D"/>
                </a:solidFill>
              </a:defRPr>
            </a:pPr>
            <a:r>
              <a:rPr sz="3450" b="1">
                <a:solidFill>
                  <a:srgbClr val="15803D"/>
                </a:solidFill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3D275C-7B19-410B-AF24-F5D34424A1B4}"/>
              </a:ext>
            </a:extLst>
          </p:cNvPr>
          <p:cNvSpPr>
            <a:spLocks noGrp="1"/>
          </p:cNvSpPr>
          <p:nvPr/>
        </p:nvSpPr>
        <p:spPr>
          <a:xfrm>
            <a:off x="4991100" y="3429000"/>
            <a:ext cx="3714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leakage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D50718-0A36-4339-A496-6BD7C6DD3E51}"/>
              </a:ext>
            </a:extLst>
          </p:cNvPr>
          <p:cNvSpPr>
            <a:spLocks noGrp="1"/>
          </p:cNvSpPr>
          <p:nvPr/>
        </p:nvSpPr>
        <p:spPr>
          <a:xfrm>
            <a:off x="4991100" y="3676650"/>
            <a:ext cx="3714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627276"/>
                </a:solidFill>
              </a:defRPr>
            </a:pPr>
            <a:r>
              <a:rPr sz="1200" b="0">
                <a:solidFill>
                  <a:srgbClr val="627276"/>
                </a:solidFill>
              </a:rPr>
              <a:t>cluster and pair-key overlap</a:t>
            </a:r>
          </a:p>
        </p:txBody>
      </p:sp>
      <p:sp>
        <p:nvSpPr>
          <p:cNvPr id="13" name="boltz-split-table">
            <a:extLst>
              <a:ext uri="{FF2B5EF4-FFF2-40B4-BE49-F238E27FC236}">
                <a16:creationId xmlns:a16="http://schemas.microsoft.com/office/drawing/2014/main" id="{0A9A08CF-BC7A-46CD-A10A-3A1256A309A4}"/>
              </a:ext>
            </a:extLst>
          </p:cNvPr>
          <p:cNvSpPr>
            <a:spLocks noGrp="1"/>
          </p:cNvSpPr>
          <p:nvPr/>
        </p:nvSpPr>
        <p:spPr>
          <a:xfrm>
            <a:off x="1066800" y="4010025"/>
            <a:ext cx="7629525" cy="184785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3042AD-9F6A-46A7-AC49-4D422C2EE401}"/>
              </a:ext>
            </a:extLst>
          </p:cNvPr>
          <p:cNvSpPr>
            <a:spLocks noGrp="1"/>
          </p:cNvSpPr>
          <p:nvPr/>
        </p:nvSpPr>
        <p:spPr>
          <a:xfrm>
            <a:off x="1238250" y="4171950"/>
            <a:ext cx="1390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Split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92AFF8-9446-426F-90E8-1FB1D061E099}"/>
              </a:ext>
            </a:extLst>
          </p:cNvPr>
          <p:cNvSpPr>
            <a:spLocks noGrp="1"/>
          </p:cNvSpPr>
          <p:nvPr/>
        </p:nvSpPr>
        <p:spPr>
          <a:xfrm>
            <a:off x="2781300" y="4171950"/>
            <a:ext cx="1809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Rows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FF658F-7DD4-4984-880F-5D6E928BFB55}"/>
              </a:ext>
            </a:extLst>
          </p:cNvPr>
          <p:cNvSpPr>
            <a:spLocks noGrp="1"/>
          </p:cNvSpPr>
          <p:nvPr/>
        </p:nvSpPr>
        <p:spPr>
          <a:xfrm>
            <a:off x="4743450" y="4171950"/>
            <a:ext cx="1428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Clusters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70D6E2-C651-4F09-93A9-10295032D107}"/>
              </a:ext>
            </a:extLst>
          </p:cNvPr>
          <p:cNvSpPr>
            <a:spLocks noGrp="1"/>
          </p:cNvSpPr>
          <p:nvPr/>
        </p:nvSpPr>
        <p:spPr>
          <a:xfrm>
            <a:off x="6324600" y="4171950"/>
            <a:ext cx="2000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Ranking pairs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65302C-4B40-4A4B-A48F-EA31D48AA5CE}"/>
              </a:ext>
            </a:extLst>
          </p:cNvPr>
          <p:cNvSpPr>
            <a:spLocks noGrp="1"/>
          </p:cNvSpPr>
          <p:nvPr/>
        </p:nvSpPr>
        <p:spPr>
          <a:xfrm>
            <a:off x="1238250" y="4419600"/>
            <a:ext cx="7296150" cy="9525"/>
          </a:xfrm>
          <a:prstGeom prst="rect">
            <a:avLst/>
          </a:prstGeom>
          <a:solidFill>
            <a:srgbClr val="DCE3DD"/>
          </a:solidFill>
          <a:ln w="0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4D426B-7274-426D-A053-83BDD9A575DD}"/>
              </a:ext>
            </a:extLst>
          </p:cNvPr>
          <p:cNvSpPr>
            <a:spLocks noGrp="1"/>
          </p:cNvSpPr>
          <p:nvPr/>
        </p:nvSpPr>
        <p:spPr>
          <a:xfrm>
            <a:off x="1238250" y="4572000"/>
            <a:ext cx="1390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Train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7944F0-B015-4FBC-9FEF-74B9118E129C}"/>
              </a:ext>
            </a:extLst>
          </p:cNvPr>
          <p:cNvSpPr>
            <a:spLocks noGrp="1"/>
          </p:cNvSpPr>
          <p:nvPr/>
        </p:nvSpPr>
        <p:spPr>
          <a:xfrm>
            <a:off x="2781300" y="4572000"/>
            <a:ext cx="1809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3,906,708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33665F-6A0A-4B69-A767-C13CB30D81EE}"/>
              </a:ext>
            </a:extLst>
          </p:cNvPr>
          <p:cNvSpPr>
            <a:spLocks noGrp="1"/>
          </p:cNvSpPr>
          <p:nvPr/>
        </p:nvSpPr>
        <p:spPr>
          <a:xfrm>
            <a:off x="4743450" y="4572000"/>
            <a:ext cx="1428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10,650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E72DC7-9B77-46D9-8B15-18F27EB65264}"/>
              </a:ext>
            </a:extLst>
          </p:cNvPr>
          <p:cNvSpPr>
            <a:spLocks noGrp="1"/>
          </p:cNvSpPr>
          <p:nvPr/>
        </p:nvSpPr>
        <p:spPr>
          <a:xfrm>
            <a:off x="6324600" y="4572000"/>
            <a:ext cx="2000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4,000,000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F30FF9-AFB7-4396-9679-F0F15C9B5D99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7296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B4DA44-3002-45DA-97F6-B855F9EB83C7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1390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Val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CB8B5F-3E6C-4217-8E9A-85E161CD9141}"/>
              </a:ext>
            </a:extLst>
          </p:cNvPr>
          <p:cNvSpPr>
            <a:spLocks noGrp="1"/>
          </p:cNvSpPr>
          <p:nvPr/>
        </p:nvSpPr>
        <p:spPr>
          <a:xfrm>
            <a:off x="2781300" y="5029200"/>
            <a:ext cx="1809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820,033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59CA0C-6240-4148-9801-855B759E3B8B}"/>
              </a:ext>
            </a:extLst>
          </p:cNvPr>
          <p:cNvSpPr>
            <a:spLocks noGrp="1"/>
          </p:cNvSpPr>
          <p:nvPr/>
        </p:nvSpPr>
        <p:spPr>
          <a:xfrm>
            <a:off x="4743450" y="5029200"/>
            <a:ext cx="1428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21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0F0FCD-39CD-42E9-9FCF-7FFABDFBAAF2}"/>
              </a:ext>
            </a:extLst>
          </p:cNvPr>
          <p:cNvSpPr>
            <a:spLocks noGrp="1"/>
          </p:cNvSpPr>
          <p:nvPr/>
        </p:nvSpPr>
        <p:spPr>
          <a:xfrm>
            <a:off x="6324600" y="5029200"/>
            <a:ext cx="2000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500,000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ADDC70-77ED-4002-A05A-45C2A9B2EC55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7296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4D9CB6-5887-45C0-BF88-394A1A87D215}"/>
              </a:ext>
            </a:extLst>
          </p:cNvPr>
          <p:cNvSpPr>
            <a:spLocks noGrp="1"/>
          </p:cNvSpPr>
          <p:nvPr/>
        </p:nvSpPr>
        <p:spPr>
          <a:xfrm>
            <a:off x="1238250" y="5505450"/>
            <a:ext cx="1390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Test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83E088-BC16-4EF7-AFCE-9B3AA9AEBCD9}"/>
              </a:ext>
            </a:extLst>
          </p:cNvPr>
          <p:cNvSpPr>
            <a:spLocks noGrp="1"/>
          </p:cNvSpPr>
          <p:nvPr/>
        </p:nvSpPr>
        <p:spPr>
          <a:xfrm>
            <a:off x="2781300" y="5505450"/>
            <a:ext cx="1809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854,977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2A931D-A723-4473-960C-41025BF6944C}"/>
              </a:ext>
            </a:extLst>
          </p:cNvPr>
          <p:cNvSpPr>
            <a:spLocks noGrp="1"/>
          </p:cNvSpPr>
          <p:nvPr/>
        </p:nvSpPr>
        <p:spPr>
          <a:xfrm>
            <a:off x="4743450" y="5505450"/>
            <a:ext cx="1428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29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5399CB-1E41-456D-BDDC-249432BDD7FA}"/>
              </a:ext>
            </a:extLst>
          </p:cNvPr>
          <p:cNvSpPr>
            <a:spLocks noGrp="1"/>
          </p:cNvSpPr>
          <p:nvPr/>
        </p:nvSpPr>
        <p:spPr>
          <a:xfrm>
            <a:off x="6324600" y="5505450"/>
            <a:ext cx="2000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500,000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57C8657-1F4E-42CB-BAAC-A70B17376203}"/>
              </a:ext>
            </a:extLst>
          </p:cNvPr>
          <p:cNvSpPr>
            <a:spLocks noGrp="1"/>
          </p:cNvSpPr>
          <p:nvPr/>
        </p:nvSpPr>
        <p:spPr>
          <a:xfrm>
            <a:off x="9344025" y="2219325"/>
            <a:ext cx="8124825" cy="7439025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9525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90AA3E-D730-423B-A551-93757788EB24}"/>
              </a:ext>
            </a:extLst>
          </p:cNvPr>
          <p:cNvSpPr>
            <a:spLocks noGrp="1"/>
          </p:cNvSpPr>
          <p:nvPr/>
        </p:nvSpPr>
        <p:spPr>
          <a:xfrm>
            <a:off x="9601200" y="2476500"/>
            <a:ext cx="7639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803D"/>
                </a:solidFill>
              </a:defRPr>
            </a:pPr>
            <a:r>
              <a:rPr sz="2250" b="1">
                <a:solidFill>
                  <a:srgbClr val="15803D"/>
                </a:solidFill>
              </a:rPr>
              <a:t>Papyrus split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51D6CC-801E-4703-9510-82B73C67CD55}"/>
              </a:ext>
            </a:extLst>
          </p:cNvPr>
          <p:cNvSpPr>
            <a:spLocks noGrp="1"/>
          </p:cNvSpPr>
          <p:nvPr/>
        </p:nvSpPr>
        <p:spPr>
          <a:xfrm>
            <a:off x="9601200" y="2952750"/>
            <a:ext cx="37147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15803D"/>
                </a:solidFill>
              </a:defRPr>
            </a:pPr>
            <a:r>
              <a:rPr sz="3450" b="1">
                <a:solidFill>
                  <a:srgbClr val="15803D"/>
                </a:solidFill>
              </a:rPr>
              <a:t>3,466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F05612-AA5D-418C-B13D-E1A67F2FE5E9}"/>
              </a:ext>
            </a:extLst>
          </p:cNvPr>
          <p:cNvSpPr>
            <a:spLocks noGrp="1"/>
          </p:cNvSpPr>
          <p:nvPr/>
        </p:nvSpPr>
        <p:spPr>
          <a:xfrm>
            <a:off x="9601200" y="3429000"/>
            <a:ext cx="3714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clusters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0751C1-ACBA-4FE1-89F8-EE227FAE4D1E}"/>
              </a:ext>
            </a:extLst>
          </p:cNvPr>
          <p:cNvSpPr>
            <a:spLocks noGrp="1"/>
          </p:cNvSpPr>
          <p:nvPr/>
        </p:nvSpPr>
        <p:spPr>
          <a:xfrm>
            <a:off x="9601200" y="3676650"/>
            <a:ext cx="3714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627276"/>
                </a:solidFill>
              </a:defRPr>
            </a:pPr>
            <a:r>
              <a:rPr sz="1200" b="0">
                <a:solidFill>
                  <a:srgbClr val="627276"/>
                </a:solidFill>
              </a:rPr>
              <a:t>90% sequence identity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B5B28D8-0192-4725-95EE-17221CF03519}"/>
              </a:ext>
            </a:extLst>
          </p:cNvPr>
          <p:cNvSpPr>
            <a:spLocks noGrp="1"/>
          </p:cNvSpPr>
          <p:nvPr/>
        </p:nvSpPr>
        <p:spPr>
          <a:xfrm>
            <a:off x="13506450" y="2952750"/>
            <a:ext cx="37147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15803D"/>
                </a:solidFill>
              </a:defRPr>
            </a:pPr>
            <a:r>
              <a:rPr sz="3450" b="1">
                <a:solidFill>
                  <a:srgbClr val="15803D"/>
                </a:solidFill>
              </a:rPr>
              <a:t>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C19870-E56B-4A77-BE20-3A0DCB7D45DB}"/>
              </a:ext>
            </a:extLst>
          </p:cNvPr>
          <p:cNvSpPr>
            <a:spLocks noGrp="1"/>
          </p:cNvSpPr>
          <p:nvPr/>
        </p:nvSpPr>
        <p:spPr>
          <a:xfrm>
            <a:off x="13506450" y="3429000"/>
            <a:ext cx="3714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leakage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01458D6-45B6-4A47-B7F1-74FE5F106674}"/>
              </a:ext>
            </a:extLst>
          </p:cNvPr>
          <p:cNvSpPr>
            <a:spLocks noGrp="1"/>
          </p:cNvSpPr>
          <p:nvPr/>
        </p:nvSpPr>
        <p:spPr>
          <a:xfrm>
            <a:off x="13506450" y="3676650"/>
            <a:ext cx="3714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627276"/>
                </a:solidFill>
              </a:defRPr>
            </a:pPr>
            <a:r>
              <a:rPr sz="1200" b="0">
                <a:solidFill>
                  <a:srgbClr val="627276"/>
                </a:solidFill>
              </a:rPr>
              <a:t>cluster and pair-key overlap</a:t>
            </a:r>
          </a:p>
        </p:txBody>
      </p:sp>
      <p:sp>
        <p:nvSpPr>
          <p:cNvPr id="41" name="papyrus-split-table">
            <a:extLst>
              <a:ext uri="{FF2B5EF4-FFF2-40B4-BE49-F238E27FC236}">
                <a16:creationId xmlns:a16="http://schemas.microsoft.com/office/drawing/2014/main" id="{E1588862-CC99-4634-9B86-0FC1B8DE569C}"/>
              </a:ext>
            </a:extLst>
          </p:cNvPr>
          <p:cNvSpPr>
            <a:spLocks noGrp="1"/>
          </p:cNvSpPr>
          <p:nvPr/>
        </p:nvSpPr>
        <p:spPr>
          <a:xfrm>
            <a:off x="9591675" y="4010025"/>
            <a:ext cx="7629525" cy="184785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B91415-439A-4486-B4AC-68FB16996F6C}"/>
              </a:ext>
            </a:extLst>
          </p:cNvPr>
          <p:cNvSpPr>
            <a:spLocks noGrp="1"/>
          </p:cNvSpPr>
          <p:nvPr/>
        </p:nvSpPr>
        <p:spPr>
          <a:xfrm>
            <a:off x="9772650" y="4171950"/>
            <a:ext cx="1390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Split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193FB-736F-4CF5-8F6B-87D3AA544881}"/>
              </a:ext>
            </a:extLst>
          </p:cNvPr>
          <p:cNvSpPr>
            <a:spLocks noGrp="1"/>
          </p:cNvSpPr>
          <p:nvPr/>
        </p:nvSpPr>
        <p:spPr>
          <a:xfrm>
            <a:off x="11296650" y="4171950"/>
            <a:ext cx="1809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Rows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42D641A-FF74-4B1F-B717-ECCD2EE572B7}"/>
              </a:ext>
            </a:extLst>
          </p:cNvPr>
          <p:cNvSpPr>
            <a:spLocks noGrp="1"/>
          </p:cNvSpPr>
          <p:nvPr/>
        </p:nvSpPr>
        <p:spPr>
          <a:xfrm>
            <a:off x="13258800" y="4171950"/>
            <a:ext cx="1428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Clusters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685E212-1FAB-46C9-9BE7-632B6AD34DF0}"/>
              </a:ext>
            </a:extLst>
          </p:cNvPr>
          <p:cNvSpPr>
            <a:spLocks noGrp="1"/>
          </p:cNvSpPr>
          <p:nvPr/>
        </p:nvSpPr>
        <p:spPr>
          <a:xfrm>
            <a:off x="14839950" y="4171950"/>
            <a:ext cx="2000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Ranking pairs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96CE070-F61F-41A4-9812-5BDBAB5CBA8D}"/>
              </a:ext>
            </a:extLst>
          </p:cNvPr>
          <p:cNvSpPr>
            <a:spLocks noGrp="1"/>
          </p:cNvSpPr>
          <p:nvPr/>
        </p:nvSpPr>
        <p:spPr>
          <a:xfrm>
            <a:off x="9772650" y="4419600"/>
            <a:ext cx="7296150" cy="9525"/>
          </a:xfrm>
          <a:prstGeom prst="rect">
            <a:avLst/>
          </a:prstGeom>
          <a:solidFill>
            <a:srgbClr val="DCE3DD"/>
          </a:solidFill>
          <a:ln w="0">
            <a:solidFill>
              <a:srgbClr val="DCE3D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F74F405-EC39-4139-9497-10847F570740}"/>
              </a:ext>
            </a:extLst>
          </p:cNvPr>
          <p:cNvSpPr>
            <a:spLocks noGrp="1"/>
          </p:cNvSpPr>
          <p:nvPr/>
        </p:nvSpPr>
        <p:spPr>
          <a:xfrm>
            <a:off x="9772650" y="4572000"/>
            <a:ext cx="1390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Train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5AD1F68-E526-4769-9DED-170C5AB1F53F}"/>
              </a:ext>
            </a:extLst>
          </p:cNvPr>
          <p:cNvSpPr>
            <a:spLocks noGrp="1"/>
          </p:cNvSpPr>
          <p:nvPr/>
        </p:nvSpPr>
        <p:spPr>
          <a:xfrm>
            <a:off x="11296650" y="4572000"/>
            <a:ext cx="1809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776,137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E80603-DB71-4BD7-BB60-030FA46DD4D9}"/>
              </a:ext>
            </a:extLst>
          </p:cNvPr>
          <p:cNvSpPr>
            <a:spLocks noGrp="1"/>
          </p:cNvSpPr>
          <p:nvPr/>
        </p:nvSpPr>
        <p:spPr>
          <a:xfrm>
            <a:off x="13258800" y="4572000"/>
            <a:ext cx="1428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3,446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F1278FE-2C96-4869-B2C3-B9B5CEF4F130}"/>
              </a:ext>
            </a:extLst>
          </p:cNvPr>
          <p:cNvSpPr>
            <a:spLocks noGrp="1"/>
          </p:cNvSpPr>
          <p:nvPr/>
        </p:nvSpPr>
        <p:spPr>
          <a:xfrm>
            <a:off x="14839950" y="4572000"/>
            <a:ext cx="2000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4,000,000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71955B1-B3D7-4EF4-8A5B-F5E9451A0DA5}"/>
              </a:ext>
            </a:extLst>
          </p:cNvPr>
          <p:cNvSpPr>
            <a:spLocks noGrp="1"/>
          </p:cNvSpPr>
          <p:nvPr/>
        </p:nvSpPr>
        <p:spPr>
          <a:xfrm>
            <a:off x="9772650" y="4895850"/>
            <a:ext cx="7296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C1AEF56-B7A7-497D-AF65-E0110B302CB5}"/>
              </a:ext>
            </a:extLst>
          </p:cNvPr>
          <p:cNvSpPr>
            <a:spLocks noGrp="1"/>
          </p:cNvSpPr>
          <p:nvPr/>
        </p:nvSpPr>
        <p:spPr>
          <a:xfrm>
            <a:off x="9772650" y="5029200"/>
            <a:ext cx="1390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Val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8CE37EC-7816-4C7C-BAC0-EE226E52D096}"/>
              </a:ext>
            </a:extLst>
          </p:cNvPr>
          <p:cNvSpPr>
            <a:spLocks noGrp="1"/>
          </p:cNvSpPr>
          <p:nvPr/>
        </p:nvSpPr>
        <p:spPr>
          <a:xfrm>
            <a:off x="11296650" y="5029200"/>
            <a:ext cx="1809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139,583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AF0843A-DA87-4677-A649-F3843BDCCF63}"/>
              </a:ext>
            </a:extLst>
          </p:cNvPr>
          <p:cNvSpPr>
            <a:spLocks noGrp="1"/>
          </p:cNvSpPr>
          <p:nvPr/>
        </p:nvSpPr>
        <p:spPr>
          <a:xfrm>
            <a:off x="13258800" y="5029200"/>
            <a:ext cx="1428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10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8B7F37F-9DFE-4C3C-8146-59B53F0A5859}"/>
              </a:ext>
            </a:extLst>
          </p:cNvPr>
          <p:cNvSpPr>
            <a:spLocks noGrp="1"/>
          </p:cNvSpPr>
          <p:nvPr/>
        </p:nvSpPr>
        <p:spPr>
          <a:xfrm>
            <a:off x="14839950" y="5029200"/>
            <a:ext cx="2000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500,000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1D6D12-3DD2-4402-BCF9-9B76045D9072}"/>
              </a:ext>
            </a:extLst>
          </p:cNvPr>
          <p:cNvSpPr>
            <a:spLocks noGrp="1"/>
          </p:cNvSpPr>
          <p:nvPr/>
        </p:nvSpPr>
        <p:spPr>
          <a:xfrm>
            <a:off x="9772650" y="5353050"/>
            <a:ext cx="7296150" cy="9525"/>
          </a:xfrm>
          <a:prstGeom prst="rect">
            <a:avLst/>
          </a:prstGeom>
          <a:solidFill>
            <a:srgbClr val="EDF0EA"/>
          </a:solidFill>
          <a:ln w="0">
            <a:solidFill>
              <a:srgbClr val="EDF0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6695D1A-D301-44CA-8676-6151551A1274}"/>
              </a:ext>
            </a:extLst>
          </p:cNvPr>
          <p:cNvSpPr>
            <a:spLocks noGrp="1"/>
          </p:cNvSpPr>
          <p:nvPr/>
        </p:nvSpPr>
        <p:spPr>
          <a:xfrm>
            <a:off x="9772650" y="5505450"/>
            <a:ext cx="1390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27"/>
                </a:solidFill>
              </a:defRPr>
            </a:pPr>
            <a:r>
              <a:rPr sz="1500" b="1">
                <a:solidFill>
                  <a:srgbClr val="102027"/>
                </a:solidFill>
              </a:rPr>
              <a:t>Test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C57F45B-B1BD-4657-9765-807EF12D1ADC}"/>
              </a:ext>
            </a:extLst>
          </p:cNvPr>
          <p:cNvSpPr>
            <a:spLocks noGrp="1"/>
          </p:cNvSpPr>
          <p:nvPr/>
        </p:nvSpPr>
        <p:spPr>
          <a:xfrm>
            <a:off x="11296650" y="5505450"/>
            <a:ext cx="1809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137,332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6AF96B6-2FAB-44FB-A72F-E6D135B851CF}"/>
              </a:ext>
            </a:extLst>
          </p:cNvPr>
          <p:cNvSpPr>
            <a:spLocks noGrp="1"/>
          </p:cNvSpPr>
          <p:nvPr/>
        </p:nvSpPr>
        <p:spPr>
          <a:xfrm>
            <a:off x="13258800" y="5505450"/>
            <a:ext cx="1428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10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41FCEAC-0887-494A-A8A4-9A7F1330B5AD}"/>
              </a:ext>
            </a:extLst>
          </p:cNvPr>
          <p:cNvSpPr>
            <a:spLocks noGrp="1"/>
          </p:cNvSpPr>
          <p:nvPr/>
        </p:nvSpPr>
        <p:spPr>
          <a:xfrm>
            <a:off x="14839950" y="5505450"/>
            <a:ext cx="2000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253B40"/>
                </a:solidFill>
              </a:defRPr>
            </a:pPr>
            <a:r>
              <a:rPr sz="1500" b="0">
                <a:solidFill>
                  <a:srgbClr val="253B40"/>
                </a:solidFill>
              </a:rPr>
              <a:t>500,000</a:t>
            </a:r>
          </a:p>
        </p:txBody>
      </p:sp>
    </p:spTree>
    <p:extLst>
      <p:ext uri="{BB962C8B-B14F-4D97-AF65-F5344CB8AC3E}">
        <p14:creationId xmlns:p14="http://schemas.microsoft.com/office/powerpoint/2010/main" val="19096609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</Words>
  <Application>Microsoft Macintosh PowerPoint</Application>
  <DocSecurity>0</DocSecurity>
  <PresentationFormat>Custom</PresentationFormat>
  <Paragraphs>162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Atabey Ünlü</cp:lastModifiedBy>
  <cp:revision>1</cp:revision>
  <dcterms:created xsi:type="dcterms:W3CDTF">2026-04-27T11:46:36Z</dcterms:created>
  <dcterms:modified xsi:type="dcterms:W3CDTF">2026-04-29T21:36:08Z</dcterms:modified>
</cp:coreProperties>
</file>